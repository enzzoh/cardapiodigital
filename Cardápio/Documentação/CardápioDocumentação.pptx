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5143500" cx="9144000"/>
  <p:notesSz cx="6858000" cy="9144000"/>
  <p:embeddedFontLst>
    <p:embeddedFont>
      <p:font typeface="Roboto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DB24AE-9BD9-43DD-9748-538B7E25027F}">
  <a:tblStyle styleId="{0BDB24AE-9BD9-43DD-9748-538B7E25027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font" Target="fonts/Roboto-bold.fntdata"/><Relationship Id="rId23" Type="http://schemas.openxmlformats.org/officeDocument/2006/relationships/slide" Target="slides/slide17.xml"/><Relationship Id="rId45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schemas.openxmlformats.org/officeDocument/2006/relationships/font" Target="fonts/Roboto-boldItalic.fntdata"/><Relationship Id="rId25" Type="http://schemas.openxmlformats.org/officeDocument/2006/relationships/slide" Target="slides/slide19.xml"/><Relationship Id="rId47" Type="http://schemas.openxmlformats.org/officeDocument/2006/relationships/font" Target="fonts/Roboto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" name="Google Shape;62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5" name="Google Shape;65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4" name="Google Shape;68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2" name="Google Shape;69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3" name="Google Shape;71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2" name="Google Shape;76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1" name="Google Shape;79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1" name="Google Shape;80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0" name="Google Shape;83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9" name="Google Shape;85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2567875" y="1055075"/>
            <a:ext cx="50271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pt-BR" sz="3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Documentação Cardápio Online</a:t>
            </a:r>
            <a:endParaRPr b="0" i="0" sz="3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979800" y="3615200"/>
            <a:ext cx="446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Equipe: Enzzo</a:t>
            </a: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Samuel</a:t>
            </a:r>
            <a:r>
              <a:rPr b="0" i="0" lang="pt-BR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456600" y="154850"/>
            <a:ext cx="1193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Sistema</a:t>
            </a:r>
            <a:endParaRPr b="0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500075" y="807250"/>
            <a:ext cx="6550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Sistema Web </a:t>
            </a: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pt-BR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om o objetivo de servir de cardápio digital para diversas empresas</a:t>
            </a: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Esse sistema procura substituir </a:t>
            </a: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cardápios</a:t>
            </a: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digitais em restaurantes, agilizando todo o processo de pedido, sem a necessidade de um garçom.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" name="Google Shape;97;p15"/>
          <p:cNvGraphicFramePr/>
          <p:nvPr/>
        </p:nvGraphicFramePr>
        <p:xfrm>
          <a:off x="197618" y="12408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{0BDB24AE-9BD9-43DD-9748-538B7E25027F}</a:tableStyleId>
              </a:tblPr>
              <a:tblGrid>
                <a:gridCol w="1589800"/>
                <a:gridCol w="1589800"/>
                <a:gridCol w="1589800"/>
                <a:gridCol w="1589800"/>
                <a:gridCol w="1589800"/>
              </a:tblGrid>
              <a:tr h="26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CAMPO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TIPO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RESTRIÇÃO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OBS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40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CATEGORIAID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INT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PK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Numeração automática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585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02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pt-BR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Nome 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varchar(100)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Não aceita nulo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761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03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pt-BR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CategoriaDescricao 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varchar(100)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NÃO ACEITA NULO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761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04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CATEGORIAFOTO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Varchar(999)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ACEITA NULO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  <p:sp>
        <p:nvSpPr>
          <p:cNvPr id="98" name="Google Shape;98;p15"/>
          <p:cNvSpPr/>
          <p:nvPr/>
        </p:nvSpPr>
        <p:spPr>
          <a:xfrm>
            <a:off x="430750" y="165843"/>
            <a:ext cx="1153500" cy="604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" name="Google Shape;103;p16"/>
          <p:cNvGraphicFramePr/>
          <p:nvPr/>
        </p:nvGraphicFramePr>
        <p:xfrm>
          <a:off x="456188" y="11781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{0BDB24AE-9BD9-43DD-9748-538B7E25027F}</a:tableStyleId>
              </a:tblPr>
              <a:tblGrid>
                <a:gridCol w="1583100"/>
                <a:gridCol w="1583100"/>
                <a:gridCol w="1583100"/>
                <a:gridCol w="1583100"/>
                <a:gridCol w="1583100"/>
              </a:tblGrid>
              <a:tr h="27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CAMPO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TIPO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RESTRIÇÃO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OBS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478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EMPRESAID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INT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PK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Numeração automática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58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02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pt-BR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TELEFONEEMPRESA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varchar(20)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 aceita nulo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75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03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pt-BR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NOME</a:t>
                      </a:r>
                      <a:r>
                        <a:rPr lang="pt-BR" sz="1400" u="none" cap="none" strike="noStrike"/>
                        <a:t>EMPRESA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varchar(100)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 aceita nulo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75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04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SENHAEMPRESA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varchar(100)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 aceita nulo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75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05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taxaEMPRESA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float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Aceita nulo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  <p:sp>
        <p:nvSpPr>
          <p:cNvPr id="104" name="Google Shape;104;p16"/>
          <p:cNvSpPr/>
          <p:nvPr/>
        </p:nvSpPr>
        <p:spPr>
          <a:xfrm>
            <a:off x="129592" y="421572"/>
            <a:ext cx="1315800" cy="5361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EMPRESA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Google Shape;109;p17"/>
          <p:cNvGraphicFramePr/>
          <p:nvPr/>
        </p:nvGraphicFramePr>
        <p:xfrm>
          <a:off x="121525" y="8886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{0BDB24AE-9BD9-43DD-9748-538B7E25027F}</a:tableStyleId>
              </a:tblPr>
              <a:tblGrid>
                <a:gridCol w="1581075"/>
                <a:gridCol w="1731100"/>
                <a:gridCol w="1431050"/>
                <a:gridCol w="1581075"/>
                <a:gridCol w="1581075"/>
              </a:tblGrid>
              <a:tr h="25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CAMPO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TIPO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RESTRIÇÃO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OBS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71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PROID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INT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PK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Numeração automática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356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02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pt-BR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NOME</a:t>
                      </a:r>
                      <a:r>
                        <a:rPr lang="pt-BR" sz="1400" u="none" cap="none" strike="noStrike"/>
                        <a:t>PRODUTO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varchar(250)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Não aceita nulo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501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03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pt-BR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DESCRICAOP</a:t>
                      </a:r>
                      <a:r>
                        <a:rPr lang="pt-BR" sz="1400" u="none" cap="none" strike="noStrike"/>
                        <a:t>RODUTO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varchar(250)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Não aceita nulo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446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04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NUTRICAOPRODUTO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varchar(500)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Aceita nulo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501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05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PRECOPRODUTO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float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Não aceita nulo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537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06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CategoriaID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INT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FK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Relação com (Categoria) 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4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07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EmpresaID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INT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FK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Relação com (Empresa)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  <p:sp>
        <p:nvSpPr>
          <p:cNvPr id="110" name="Google Shape;110;p17"/>
          <p:cNvSpPr/>
          <p:nvPr/>
        </p:nvSpPr>
        <p:spPr>
          <a:xfrm>
            <a:off x="121525" y="124125"/>
            <a:ext cx="1510500" cy="5961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" name="Google Shape;115;p18"/>
          <p:cNvGraphicFramePr/>
          <p:nvPr/>
        </p:nvGraphicFramePr>
        <p:xfrm>
          <a:off x="121525" y="8886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{0BDB24AE-9BD9-43DD-9748-538B7E25027F}</a:tableStyleId>
              </a:tblPr>
              <a:tblGrid>
                <a:gridCol w="1581075"/>
                <a:gridCol w="1731100"/>
                <a:gridCol w="1431050"/>
                <a:gridCol w="1581075"/>
                <a:gridCol w="1581075"/>
              </a:tblGrid>
              <a:tr h="25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CAMPO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TIPO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RESTRIÇÃO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OBS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71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PedID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INT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PK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Numeração automática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356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02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PedNomeCliente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varchar(255)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Não aceita nulo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501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03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PedEnderecoCliente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varchar(255)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Não aceita nulo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446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04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PedTelefoneCliente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varchar(255)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Aceita nulo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501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05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PedDataPedido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date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Não aceita nulo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537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06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TipoPagamento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varchar(255)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Não aceita nulo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4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07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EmpresaID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INT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FK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Relação com (Empresa)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  <p:sp>
        <p:nvSpPr>
          <p:cNvPr id="116" name="Google Shape;116;p18"/>
          <p:cNvSpPr/>
          <p:nvPr/>
        </p:nvSpPr>
        <p:spPr>
          <a:xfrm>
            <a:off x="121525" y="124125"/>
            <a:ext cx="1510500" cy="5961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Pedidos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" name="Google Shape;121;p19"/>
          <p:cNvGraphicFramePr/>
          <p:nvPr/>
        </p:nvGraphicFramePr>
        <p:xfrm>
          <a:off x="121525" y="8886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{0BDB24AE-9BD9-43DD-9748-538B7E25027F}</a:tableStyleId>
              </a:tblPr>
              <a:tblGrid>
                <a:gridCol w="1581075"/>
                <a:gridCol w="1731100"/>
                <a:gridCol w="1431050"/>
                <a:gridCol w="1581075"/>
                <a:gridCol w="1581075"/>
              </a:tblGrid>
              <a:tr h="25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CAMPO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TIPO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RESTRIÇÃO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OBS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71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Per_nome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varchar(255)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PK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Numeração automática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  <p:sp>
        <p:nvSpPr>
          <p:cNvPr id="122" name="Google Shape;122;p19"/>
          <p:cNvSpPr/>
          <p:nvPr/>
        </p:nvSpPr>
        <p:spPr>
          <a:xfrm>
            <a:off x="121525" y="124125"/>
            <a:ext cx="1510500" cy="5961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Perfil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/>
          <p:nvPr/>
        </p:nvSpPr>
        <p:spPr>
          <a:xfrm>
            <a:off x="2469186" y="1395840"/>
            <a:ext cx="1402800" cy="735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Produto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0"/>
          <p:cNvSpPr/>
          <p:nvPr/>
        </p:nvSpPr>
        <p:spPr>
          <a:xfrm>
            <a:off x="4669269" y="1395840"/>
            <a:ext cx="1402800" cy="735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Empresa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176327" y="1395840"/>
            <a:ext cx="1402800" cy="735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1965893" y="158586"/>
            <a:ext cx="5212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pt-BR" sz="3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DER  MODELO CONCEITUAL </a:t>
            </a:r>
            <a:endParaRPr b="0" i="0" sz="3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20"/>
          <p:cNvCxnSpPr/>
          <p:nvPr/>
        </p:nvCxnSpPr>
        <p:spPr>
          <a:xfrm>
            <a:off x="1585983" y="1785826"/>
            <a:ext cx="883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" name="Google Shape;132;p20"/>
          <p:cNvCxnSpPr/>
          <p:nvPr/>
        </p:nvCxnSpPr>
        <p:spPr>
          <a:xfrm>
            <a:off x="3887873" y="1785826"/>
            <a:ext cx="781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3" name="Google Shape;133;p20"/>
          <p:cNvSpPr/>
          <p:nvPr/>
        </p:nvSpPr>
        <p:spPr>
          <a:xfrm>
            <a:off x="1821640" y="1573852"/>
            <a:ext cx="436500" cy="423900"/>
          </a:xfrm>
          <a:prstGeom prst="diamond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4060362" y="1573852"/>
            <a:ext cx="436500" cy="423900"/>
          </a:xfrm>
          <a:prstGeom prst="diamond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2194624" y="1486684"/>
            <a:ext cx="250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3947340" y="1473119"/>
            <a:ext cx="250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1672187" y="1486679"/>
            <a:ext cx="226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0"/>
          <p:cNvSpPr txBox="1"/>
          <p:nvPr/>
        </p:nvSpPr>
        <p:spPr>
          <a:xfrm>
            <a:off x="4418960" y="1473115"/>
            <a:ext cx="226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4669269" y="3062015"/>
            <a:ext cx="1402800" cy="735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Pedidos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20"/>
          <p:cNvCxnSpPr>
            <a:stCxn id="128" idx="2"/>
            <a:endCxn id="139" idx="0"/>
          </p:cNvCxnSpPr>
          <p:nvPr/>
        </p:nvCxnSpPr>
        <p:spPr>
          <a:xfrm>
            <a:off x="5370669" y="2131440"/>
            <a:ext cx="0" cy="93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1" name="Google Shape;141;p20"/>
          <p:cNvSpPr/>
          <p:nvPr/>
        </p:nvSpPr>
        <p:spPr>
          <a:xfrm>
            <a:off x="5152437" y="2420502"/>
            <a:ext cx="436500" cy="423900"/>
          </a:xfrm>
          <a:prstGeom prst="diamond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5718290" y="2710894"/>
            <a:ext cx="250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0"/>
          <p:cNvSpPr txBox="1"/>
          <p:nvPr/>
        </p:nvSpPr>
        <p:spPr>
          <a:xfrm>
            <a:off x="5730310" y="2210840"/>
            <a:ext cx="226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7106677" y="1418015"/>
            <a:ext cx="1402800" cy="735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E-Perfil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20"/>
          <p:cNvCxnSpPr>
            <a:stCxn id="128" idx="3"/>
            <a:endCxn id="144" idx="1"/>
          </p:cNvCxnSpPr>
          <p:nvPr/>
        </p:nvCxnSpPr>
        <p:spPr>
          <a:xfrm>
            <a:off x="6072069" y="1763640"/>
            <a:ext cx="1034700" cy="22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20"/>
          <p:cNvSpPr/>
          <p:nvPr/>
        </p:nvSpPr>
        <p:spPr>
          <a:xfrm>
            <a:off x="6371125" y="1537572"/>
            <a:ext cx="436500" cy="496500"/>
          </a:xfrm>
          <a:prstGeom prst="diamond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0"/>
          <p:cNvSpPr txBox="1"/>
          <p:nvPr/>
        </p:nvSpPr>
        <p:spPr>
          <a:xfrm>
            <a:off x="6112385" y="1395840"/>
            <a:ext cx="226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6869385" y="1395840"/>
            <a:ext cx="226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" name="Google Shape;153;p21"/>
          <p:cNvGraphicFramePr/>
          <p:nvPr/>
        </p:nvGraphicFramePr>
        <p:xfrm>
          <a:off x="67007" y="4861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{0BDB24AE-9BD9-43DD-9748-538B7E25027F}</a:tableStyleId>
              </a:tblPr>
              <a:tblGrid>
                <a:gridCol w="2344625"/>
                <a:gridCol w="2724650"/>
                <a:gridCol w="3940700"/>
              </a:tblGrid>
              <a:tr h="19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Campo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Atividade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Regra de negócio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n.1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Categoria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Categorizar produtos para facilitar a navegação do cliente dentro do cardápio.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n.2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Produtos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Listagem dos Produtos da categoria selecionada.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</a:tr>
              <a:tr h="19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n.3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Botão “voltar”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Volta à página anterior.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</a:tr>
              <a:tr h="19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n.4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Caixa de seleção “quantidade”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Quantidade de pedidos a serem adicionados no carrinho, sendo no máximo cinco por vez.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n.5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Botão “adicionar Pedido”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Adiciona pedido selecionado ao carrinho.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n.6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Informações do cliente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Feita para o cliente informar seu endereço, nome e número de telefone.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</a:tr>
              <a:tr h="55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/>
                        <a:t>RN n.7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Resumo do pedido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Mostra os produtos selecionados , a quantidade, o preço de cada pedido, e o preço total da compra, a seleção da forma de pagamento do pedido e a caixa de observação.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  <p:sp>
        <p:nvSpPr>
          <p:cNvPr id="154" name="Google Shape;154;p21"/>
          <p:cNvSpPr/>
          <p:nvPr/>
        </p:nvSpPr>
        <p:spPr>
          <a:xfrm>
            <a:off x="70945" y="0"/>
            <a:ext cx="2454300" cy="5361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Regras de negócio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9" name="Google Shape;159;p22"/>
          <p:cNvGraphicFramePr/>
          <p:nvPr/>
        </p:nvGraphicFramePr>
        <p:xfrm>
          <a:off x="67007" y="5360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{0BDB24AE-9BD9-43DD-9748-538B7E25027F}</a:tableStyleId>
              </a:tblPr>
              <a:tblGrid>
                <a:gridCol w="2344625"/>
                <a:gridCol w="2724650"/>
                <a:gridCol w="3940700"/>
              </a:tblGrid>
              <a:tr h="51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Campo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Atividade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Regra de negócio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n.8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Botão “X”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Botão feito para o cliente excluir um o produto indesejado do carrinho de compras.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n.9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Forma de pagamento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/>
                        <a:t>Caixa de seleção com as informações de pagamento de cada estabelecimento.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n.10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Botão “adicionar item”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Adiciona um novo produto escolhido pelo cliente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n.11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Botão “Finalizar pedido”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Finaliza o pedido.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n.12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Tela de “Cadastro“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Tela designada para a empresa cadastrar seus dados no sistema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n.13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Tela de “Login”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Tela feita para a empresa efetuar login no sistema 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</a:tr>
              <a:tr h="241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n.14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Tela de  “Gerenciamento de Produtos”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Tela designada para a empresa Gerenciar seus produtos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</a:tr>
              <a:tr h="58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n.15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Tela de  “Perfil da Empresa”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Tela designada para a empresa organizar e ver informações do cadastro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n.16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Tela de  “Editar perfil da empresa”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Tela designada para editar as informações de cadastro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n.17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Tela de “Dashboard”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Exibe os últimos produtos mais pedidos, o mais pedido e a quantidade de produtos.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0" name="Google Shape;160;p22"/>
          <p:cNvSpPr/>
          <p:nvPr/>
        </p:nvSpPr>
        <p:spPr>
          <a:xfrm>
            <a:off x="67020" y="0"/>
            <a:ext cx="2454300" cy="5361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Regras de negócio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/>
          <p:nvPr/>
        </p:nvSpPr>
        <p:spPr>
          <a:xfrm>
            <a:off x="832313" y="1816440"/>
            <a:ext cx="901800" cy="421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Abriu o </a:t>
            </a:r>
            <a:b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Cardápio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23"/>
          <p:cNvCxnSpPr>
            <a:stCxn id="167" idx="3"/>
            <a:endCxn id="165" idx="1"/>
          </p:cNvCxnSpPr>
          <p:nvPr/>
        </p:nvCxnSpPr>
        <p:spPr>
          <a:xfrm>
            <a:off x="660350" y="2016070"/>
            <a:ext cx="171900" cy="11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8" name="Google Shape;168;p23"/>
          <p:cNvCxnSpPr>
            <a:stCxn id="165" idx="3"/>
          </p:cNvCxnSpPr>
          <p:nvPr/>
        </p:nvCxnSpPr>
        <p:spPr>
          <a:xfrm>
            <a:off x="1734113" y="2027190"/>
            <a:ext cx="252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9" name="Google Shape;169;p23"/>
          <p:cNvSpPr/>
          <p:nvPr/>
        </p:nvSpPr>
        <p:spPr>
          <a:xfrm>
            <a:off x="4596095" y="1828478"/>
            <a:ext cx="1131900" cy="421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Escolhe</a:t>
            </a:r>
            <a:b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3"/>
          <p:cNvSpPr/>
          <p:nvPr/>
        </p:nvSpPr>
        <p:spPr>
          <a:xfrm>
            <a:off x="3031357" y="2859227"/>
            <a:ext cx="1131900" cy="421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Voltar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3"/>
          <p:cNvSpPr/>
          <p:nvPr/>
        </p:nvSpPr>
        <p:spPr>
          <a:xfrm>
            <a:off x="7183151" y="1732169"/>
            <a:ext cx="1171800" cy="615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Escolhe forma de</a:t>
            </a:r>
            <a:b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Pagamento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23"/>
          <p:cNvCxnSpPr/>
          <p:nvPr/>
        </p:nvCxnSpPr>
        <p:spPr>
          <a:xfrm>
            <a:off x="3574085" y="2504307"/>
            <a:ext cx="1587900" cy="5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3" name="Google Shape;173;p23"/>
          <p:cNvCxnSpPr/>
          <p:nvPr/>
        </p:nvCxnSpPr>
        <p:spPr>
          <a:xfrm>
            <a:off x="3561690" y="2500182"/>
            <a:ext cx="24900" cy="355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4" name="Google Shape;174;p23"/>
          <p:cNvCxnSpPr>
            <a:stCxn id="169" idx="3"/>
            <a:endCxn id="175" idx="1"/>
          </p:cNvCxnSpPr>
          <p:nvPr/>
        </p:nvCxnSpPr>
        <p:spPr>
          <a:xfrm>
            <a:off x="5727995" y="2039228"/>
            <a:ext cx="166500" cy="1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6" name="Google Shape;176;p23"/>
          <p:cNvCxnSpPr>
            <a:stCxn id="169" idx="2"/>
          </p:cNvCxnSpPr>
          <p:nvPr/>
        </p:nvCxnSpPr>
        <p:spPr>
          <a:xfrm>
            <a:off x="5162045" y="2249978"/>
            <a:ext cx="0" cy="298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7" name="Google Shape;177;p23"/>
          <p:cNvCxnSpPr>
            <a:stCxn id="170" idx="2"/>
          </p:cNvCxnSpPr>
          <p:nvPr/>
        </p:nvCxnSpPr>
        <p:spPr>
          <a:xfrm flipH="1">
            <a:off x="3586507" y="3280727"/>
            <a:ext cx="10800" cy="473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8" name="Google Shape;178;p23"/>
          <p:cNvCxnSpPr/>
          <p:nvPr/>
        </p:nvCxnSpPr>
        <p:spPr>
          <a:xfrm>
            <a:off x="2579906" y="3736733"/>
            <a:ext cx="1041600" cy="3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9" name="Google Shape;179;p23"/>
          <p:cNvCxnSpPr/>
          <p:nvPr/>
        </p:nvCxnSpPr>
        <p:spPr>
          <a:xfrm rot="10800000">
            <a:off x="6455400" y="2377450"/>
            <a:ext cx="14700" cy="2331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0" name="Google Shape;180;p23"/>
          <p:cNvSpPr txBox="1"/>
          <p:nvPr/>
        </p:nvSpPr>
        <p:spPr>
          <a:xfrm>
            <a:off x="2584559" y="2270251"/>
            <a:ext cx="724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RN01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3"/>
          <p:cNvSpPr txBox="1"/>
          <p:nvPr/>
        </p:nvSpPr>
        <p:spPr>
          <a:xfrm>
            <a:off x="4468285" y="2215483"/>
            <a:ext cx="724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RN02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3"/>
          <p:cNvSpPr txBox="1"/>
          <p:nvPr/>
        </p:nvSpPr>
        <p:spPr>
          <a:xfrm>
            <a:off x="3621593" y="3293384"/>
            <a:ext cx="724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RN03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5283210" y="4158230"/>
            <a:ext cx="724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RN04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5814829" y="4875482"/>
            <a:ext cx="724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RN05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3"/>
          <p:cNvSpPr txBox="1"/>
          <p:nvPr/>
        </p:nvSpPr>
        <p:spPr>
          <a:xfrm>
            <a:off x="5874475" y="2371563"/>
            <a:ext cx="724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RN06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3"/>
          <p:cNvSpPr/>
          <p:nvPr/>
        </p:nvSpPr>
        <p:spPr>
          <a:xfrm>
            <a:off x="5749741" y="792542"/>
            <a:ext cx="1398600" cy="421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Resumo do Pedido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3"/>
          <p:cNvSpPr/>
          <p:nvPr/>
        </p:nvSpPr>
        <p:spPr>
          <a:xfrm>
            <a:off x="5894443" y="1743151"/>
            <a:ext cx="1122300" cy="615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Informações</a:t>
            </a:r>
            <a:b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Cliente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23"/>
          <p:cNvCxnSpPr>
            <a:stCxn id="186" idx="2"/>
            <a:endCxn id="175" idx="0"/>
          </p:cNvCxnSpPr>
          <p:nvPr/>
        </p:nvCxnSpPr>
        <p:spPr>
          <a:xfrm>
            <a:off x="6449041" y="1214042"/>
            <a:ext cx="6600" cy="529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8" name="Google Shape;188;p23"/>
          <p:cNvSpPr txBox="1"/>
          <p:nvPr/>
        </p:nvSpPr>
        <p:spPr>
          <a:xfrm>
            <a:off x="5532263" y="1201545"/>
            <a:ext cx="724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RN07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3"/>
          <p:cNvSpPr txBox="1"/>
          <p:nvPr/>
        </p:nvSpPr>
        <p:spPr>
          <a:xfrm>
            <a:off x="7081141" y="2361683"/>
            <a:ext cx="724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RN09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3"/>
          <p:cNvSpPr/>
          <p:nvPr/>
        </p:nvSpPr>
        <p:spPr>
          <a:xfrm>
            <a:off x="58550" y="1941670"/>
            <a:ext cx="601800" cy="148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inicio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/>
          <p:cNvSpPr/>
          <p:nvPr/>
        </p:nvSpPr>
        <p:spPr>
          <a:xfrm>
            <a:off x="8481013" y="1934956"/>
            <a:ext cx="601800" cy="148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/>
          <p:cNvSpPr txBox="1"/>
          <p:nvPr>
            <p:ph type="ctrTitle"/>
          </p:nvPr>
        </p:nvSpPr>
        <p:spPr>
          <a:xfrm>
            <a:off x="628650" y="273844"/>
            <a:ext cx="78867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 sz="2100">
                <a:solidFill>
                  <a:schemeClr val="lt1"/>
                </a:solidFill>
              </a:rPr>
              <a:t>Jornada do Cliente – Usuário (Cardápio)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192" name="Google Shape;192;p23"/>
          <p:cNvSpPr/>
          <p:nvPr/>
        </p:nvSpPr>
        <p:spPr>
          <a:xfrm>
            <a:off x="1990212" y="1805124"/>
            <a:ext cx="1131900" cy="421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Seleciona</a:t>
            </a:r>
            <a:b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23"/>
          <p:cNvCxnSpPr>
            <a:stCxn id="192" idx="3"/>
            <a:endCxn id="169" idx="1"/>
          </p:cNvCxnSpPr>
          <p:nvPr/>
        </p:nvCxnSpPr>
        <p:spPr>
          <a:xfrm>
            <a:off x="3122112" y="2015874"/>
            <a:ext cx="1473900" cy="23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4" name="Google Shape;194;p23"/>
          <p:cNvCxnSpPr/>
          <p:nvPr/>
        </p:nvCxnSpPr>
        <p:spPr>
          <a:xfrm rot="10800000">
            <a:off x="2537306" y="2237949"/>
            <a:ext cx="42600" cy="1501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5" name="Google Shape;195;p23"/>
          <p:cNvSpPr/>
          <p:nvPr/>
        </p:nvSpPr>
        <p:spPr>
          <a:xfrm>
            <a:off x="4617846" y="3736726"/>
            <a:ext cx="1131900" cy="421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Escolhe </a:t>
            </a:r>
            <a:b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Quantidade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3"/>
          <p:cNvSpPr/>
          <p:nvPr/>
        </p:nvSpPr>
        <p:spPr>
          <a:xfrm>
            <a:off x="4596096" y="4509876"/>
            <a:ext cx="1131900" cy="421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Adiciona ao </a:t>
            </a:r>
            <a:b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Carrinho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23"/>
          <p:cNvCxnSpPr>
            <a:stCxn id="195" idx="2"/>
            <a:endCxn id="196" idx="0"/>
          </p:cNvCxnSpPr>
          <p:nvPr/>
        </p:nvCxnSpPr>
        <p:spPr>
          <a:xfrm flipH="1">
            <a:off x="5162196" y="4158226"/>
            <a:ext cx="21600" cy="351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8" name="Google Shape;198;p23"/>
          <p:cNvCxnSpPr>
            <a:stCxn id="196" idx="3"/>
          </p:cNvCxnSpPr>
          <p:nvPr/>
        </p:nvCxnSpPr>
        <p:spPr>
          <a:xfrm>
            <a:off x="5727996" y="4720626"/>
            <a:ext cx="724200" cy="6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9" name="Google Shape;199;p23"/>
          <p:cNvSpPr/>
          <p:nvPr/>
        </p:nvSpPr>
        <p:spPr>
          <a:xfrm>
            <a:off x="7183151" y="2887517"/>
            <a:ext cx="1171800" cy="615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Finalizar Pedido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23"/>
          <p:cNvCxnSpPr>
            <a:stCxn id="171" idx="2"/>
            <a:endCxn id="199" idx="0"/>
          </p:cNvCxnSpPr>
          <p:nvPr/>
        </p:nvCxnSpPr>
        <p:spPr>
          <a:xfrm>
            <a:off x="7769051" y="2348069"/>
            <a:ext cx="0" cy="539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1" name="Google Shape;201;p23"/>
          <p:cNvCxnSpPr>
            <a:stCxn id="199" idx="3"/>
          </p:cNvCxnSpPr>
          <p:nvPr/>
        </p:nvCxnSpPr>
        <p:spPr>
          <a:xfrm>
            <a:off x="8354951" y="3195467"/>
            <a:ext cx="427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2" name="Google Shape;202;p23"/>
          <p:cNvCxnSpPr>
            <a:endCxn id="190" idx="2"/>
          </p:cNvCxnSpPr>
          <p:nvPr/>
        </p:nvCxnSpPr>
        <p:spPr>
          <a:xfrm rot="10800000">
            <a:off x="8781913" y="2083756"/>
            <a:ext cx="0" cy="1112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3" name="Google Shape;203;p23"/>
          <p:cNvSpPr txBox="1"/>
          <p:nvPr/>
        </p:nvSpPr>
        <p:spPr>
          <a:xfrm>
            <a:off x="7152511" y="3601250"/>
            <a:ext cx="724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RN11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23"/>
          <p:cNvCxnSpPr>
            <a:stCxn id="175" idx="3"/>
            <a:endCxn id="171" idx="1"/>
          </p:cNvCxnSpPr>
          <p:nvPr/>
        </p:nvCxnSpPr>
        <p:spPr>
          <a:xfrm flipH="1" rot="10800000">
            <a:off x="7016743" y="2040001"/>
            <a:ext cx="166500" cy="11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5" name="Google Shape;205;p23"/>
          <p:cNvCxnSpPr>
            <a:endCxn id="195" idx="0"/>
          </p:cNvCxnSpPr>
          <p:nvPr/>
        </p:nvCxnSpPr>
        <p:spPr>
          <a:xfrm>
            <a:off x="5150496" y="2270326"/>
            <a:ext cx="33300" cy="1466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"/>
          <p:cNvSpPr txBox="1"/>
          <p:nvPr>
            <p:ph type="ctrTitle"/>
          </p:nvPr>
        </p:nvSpPr>
        <p:spPr>
          <a:xfrm>
            <a:off x="314325" y="273850"/>
            <a:ext cx="4193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lang="pt-BR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 Categorias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24"/>
          <p:cNvSpPr txBox="1"/>
          <p:nvPr>
            <p:ph idx="1" type="subTitle"/>
          </p:nvPr>
        </p:nvSpPr>
        <p:spPr>
          <a:xfrm>
            <a:off x="628650" y="1369219"/>
            <a:ext cx="3801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81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 entrar no cardápio da empresa é exibido as categorias que existem produtos vinculados.</a:t>
            </a:r>
            <a:r>
              <a:rPr lang="pt-BR" sz="900">
                <a:solidFill>
                  <a:srgbClr val="20212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100">
              <a:solidFill>
                <a:schemeClr val="lt1"/>
              </a:solidFill>
            </a:endParaRPr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100"/>
          </a:p>
        </p:txBody>
      </p:sp>
      <p:cxnSp>
        <p:nvCxnSpPr>
          <p:cNvPr id="212" name="Google Shape;212;p24"/>
          <p:cNvCxnSpPr/>
          <p:nvPr/>
        </p:nvCxnSpPr>
        <p:spPr>
          <a:xfrm>
            <a:off x="4939535" y="1545022"/>
            <a:ext cx="583200" cy="331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3" name="Google Shape;213;p24"/>
          <p:cNvCxnSpPr/>
          <p:nvPr/>
        </p:nvCxnSpPr>
        <p:spPr>
          <a:xfrm>
            <a:off x="4676308" y="2581894"/>
            <a:ext cx="788400" cy="15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4" name="Google Shape;214;p24"/>
          <p:cNvCxnSpPr/>
          <p:nvPr/>
        </p:nvCxnSpPr>
        <p:spPr>
          <a:xfrm flipH="1" rot="10800000">
            <a:off x="4672400" y="3303447"/>
            <a:ext cx="796200" cy="70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5" name="Google Shape;215;p24"/>
          <p:cNvSpPr/>
          <p:nvPr/>
        </p:nvSpPr>
        <p:spPr>
          <a:xfrm>
            <a:off x="814433" y="2580314"/>
            <a:ext cx="1834200" cy="735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4"/>
          <p:cNvSpPr/>
          <p:nvPr/>
        </p:nvSpPr>
        <p:spPr>
          <a:xfrm>
            <a:off x="5562425" y="406000"/>
            <a:ext cx="2622300" cy="4367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24"/>
          <p:cNvCxnSpPr/>
          <p:nvPr/>
        </p:nvCxnSpPr>
        <p:spPr>
          <a:xfrm>
            <a:off x="5569775" y="1369225"/>
            <a:ext cx="260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24"/>
          <p:cNvSpPr/>
          <p:nvPr/>
        </p:nvSpPr>
        <p:spPr>
          <a:xfrm>
            <a:off x="7594175" y="952450"/>
            <a:ext cx="583200" cy="36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 da Empresa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4"/>
          <p:cNvSpPr/>
          <p:nvPr/>
        </p:nvSpPr>
        <p:spPr>
          <a:xfrm>
            <a:off x="5613150" y="1733225"/>
            <a:ext cx="583200" cy="5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Categoria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4"/>
          <p:cNvSpPr/>
          <p:nvPr/>
        </p:nvSpPr>
        <p:spPr>
          <a:xfrm>
            <a:off x="5613150" y="2373450"/>
            <a:ext cx="583200" cy="5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Categoria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4"/>
          <p:cNvSpPr/>
          <p:nvPr/>
        </p:nvSpPr>
        <p:spPr>
          <a:xfrm>
            <a:off x="5613150" y="3053400"/>
            <a:ext cx="583200" cy="5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Categoria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6266175" y="1733213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 Categoria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4"/>
          <p:cNvSpPr/>
          <p:nvPr/>
        </p:nvSpPr>
        <p:spPr>
          <a:xfrm>
            <a:off x="6266175" y="1970988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 categoria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4"/>
          <p:cNvSpPr/>
          <p:nvPr/>
        </p:nvSpPr>
        <p:spPr>
          <a:xfrm>
            <a:off x="6266175" y="2390613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 Categoria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6266175" y="2628388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 categoria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4"/>
          <p:cNvSpPr/>
          <p:nvPr/>
        </p:nvSpPr>
        <p:spPr>
          <a:xfrm>
            <a:off x="6266175" y="3073250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 Categoria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6266175" y="3311025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 categoria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4"/>
          <p:cNvSpPr/>
          <p:nvPr/>
        </p:nvSpPr>
        <p:spPr>
          <a:xfrm>
            <a:off x="6032000" y="1380775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foi tão fácil </a:t>
            </a:r>
            <a:r>
              <a:rPr b="0" i="0" lang="pt-BR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Pedir Lanche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type="ctrTitle"/>
          </p:nvPr>
        </p:nvSpPr>
        <p:spPr>
          <a:xfrm>
            <a:off x="70945" y="0"/>
            <a:ext cx="9806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None/>
            </a:pPr>
            <a:r>
              <a:rPr lang="pt-BR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 Caso de teste: Categorias</a:t>
            </a: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25"/>
          <p:cNvSpPr txBox="1"/>
          <p:nvPr>
            <p:ph idx="1" type="subTitle"/>
          </p:nvPr>
        </p:nvSpPr>
        <p:spPr>
          <a:xfrm>
            <a:off x="226629" y="1118244"/>
            <a:ext cx="3588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Identificação: 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Nome: Teste de Visualizar Categorias </a:t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ID: RN n.1 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de criação: 10/05/2023 15:20 PM.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Autor: Pedro Marcelo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Descrição: caso de teste para visualizar as categorias</a:t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Pré-requisitos: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1.Acesso ao cardápio da empresa selecionada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Etapas de teste: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1.acesse a tela principal do cardápio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25"/>
          <p:cNvSpPr txBox="1"/>
          <p:nvPr/>
        </p:nvSpPr>
        <p:spPr>
          <a:xfrm>
            <a:off x="4524703" y="1117136"/>
            <a:ext cx="3588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 Esperado: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cliente deve ser redirecionado para tela inicial do cardápio e visualizar as categorias disponíveis.</a:t>
            </a:r>
            <a:endParaRPr b="0" i="0" sz="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Critérios de sucesso: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cliente deve ser capaz de visualizar as categorias colocadas pela empresa no cardápio.</a:t>
            </a:r>
            <a:endParaRPr b="0" i="0" sz="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Notas de teste: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Durante a execução do teste, nenhum comportamento anormal ou inesperado foi detectado.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 realizado em 10/05/23 as 15:32 PM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"/>
          <p:cNvSpPr txBox="1"/>
          <p:nvPr/>
        </p:nvSpPr>
        <p:spPr>
          <a:xfrm>
            <a:off x="0" y="44422"/>
            <a:ext cx="85155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5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i="0" lang="pt-BR" sz="33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n.2 Produtos</a:t>
            </a:r>
            <a:endParaRPr b="0" i="0" sz="3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t/>
            </a:r>
            <a:endParaRPr b="0" i="0" sz="3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1" name="Google Shape;241;p26"/>
          <p:cNvCxnSpPr/>
          <p:nvPr/>
        </p:nvCxnSpPr>
        <p:spPr>
          <a:xfrm flipH="1">
            <a:off x="2598753" y="4106288"/>
            <a:ext cx="880800" cy="165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2" name="Google Shape;242;p26"/>
          <p:cNvSpPr txBox="1"/>
          <p:nvPr/>
        </p:nvSpPr>
        <p:spPr>
          <a:xfrm>
            <a:off x="4139004" y="1107425"/>
            <a:ext cx="32595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Tela apresentada após a seleção da categoria pelo cliente, apresenta os produtos da categoria selecionada.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6"/>
          <p:cNvSpPr/>
          <p:nvPr/>
        </p:nvSpPr>
        <p:spPr>
          <a:xfrm>
            <a:off x="4139004" y="2045576"/>
            <a:ext cx="1717800" cy="735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p26"/>
          <p:cNvCxnSpPr/>
          <p:nvPr/>
        </p:nvCxnSpPr>
        <p:spPr>
          <a:xfrm>
            <a:off x="449709" y="1490722"/>
            <a:ext cx="583200" cy="331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5" name="Google Shape;245;p26"/>
          <p:cNvCxnSpPr/>
          <p:nvPr/>
        </p:nvCxnSpPr>
        <p:spPr>
          <a:xfrm>
            <a:off x="186483" y="2527594"/>
            <a:ext cx="788400" cy="15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6" name="Google Shape;246;p26"/>
          <p:cNvCxnSpPr/>
          <p:nvPr/>
        </p:nvCxnSpPr>
        <p:spPr>
          <a:xfrm flipH="1" rot="10800000">
            <a:off x="182575" y="3249147"/>
            <a:ext cx="796200" cy="70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7" name="Google Shape;247;p26"/>
          <p:cNvSpPr/>
          <p:nvPr/>
        </p:nvSpPr>
        <p:spPr>
          <a:xfrm>
            <a:off x="1072600" y="636175"/>
            <a:ext cx="2622300" cy="4367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" name="Google Shape;248;p26"/>
          <p:cNvCxnSpPr/>
          <p:nvPr/>
        </p:nvCxnSpPr>
        <p:spPr>
          <a:xfrm>
            <a:off x="1079950" y="1314925"/>
            <a:ext cx="260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26"/>
          <p:cNvSpPr/>
          <p:nvPr/>
        </p:nvSpPr>
        <p:spPr>
          <a:xfrm>
            <a:off x="3104350" y="898150"/>
            <a:ext cx="583200" cy="36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 da Empresa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6"/>
          <p:cNvSpPr/>
          <p:nvPr/>
        </p:nvSpPr>
        <p:spPr>
          <a:xfrm>
            <a:off x="1123325" y="1591225"/>
            <a:ext cx="583200" cy="5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Categoria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6"/>
          <p:cNvSpPr/>
          <p:nvPr/>
        </p:nvSpPr>
        <p:spPr>
          <a:xfrm>
            <a:off x="1123325" y="2319150"/>
            <a:ext cx="583200" cy="5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Categoria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6"/>
          <p:cNvSpPr/>
          <p:nvPr/>
        </p:nvSpPr>
        <p:spPr>
          <a:xfrm>
            <a:off x="1123325" y="2999100"/>
            <a:ext cx="583200" cy="5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Categoria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6"/>
          <p:cNvSpPr/>
          <p:nvPr/>
        </p:nvSpPr>
        <p:spPr>
          <a:xfrm>
            <a:off x="1731100" y="2319150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Preco: R$Precoproduto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6"/>
          <p:cNvSpPr/>
          <p:nvPr/>
        </p:nvSpPr>
        <p:spPr>
          <a:xfrm>
            <a:off x="1803250" y="2673150"/>
            <a:ext cx="1045800" cy="216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Adicionar ao Carrinho</a:t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6"/>
          <p:cNvSpPr/>
          <p:nvPr/>
        </p:nvSpPr>
        <p:spPr>
          <a:xfrm>
            <a:off x="3022575" y="2673150"/>
            <a:ext cx="456900" cy="21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257096" y="2701938"/>
            <a:ext cx="159302" cy="15930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7" name="Google Shape;257;p26"/>
          <p:cNvSpPr txBox="1"/>
          <p:nvPr/>
        </p:nvSpPr>
        <p:spPr>
          <a:xfrm>
            <a:off x="3022575" y="2620050"/>
            <a:ext cx="38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26"/>
          <p:cNvSpPr/>
          <p:nvPr/>
        </p:nvSpPr>
        <p:spPr>
          <a:xfrm>
            <a:off x="1731100" y="1591213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Preco: R$Precoproduto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6"/>
          <p:cNvSpPr/>
          <p:nvPr/>
        </p:nvSpPr>
        <p:spPr>
          <a:xfrm>
            <a:off x="1803250" y="1945213"/>
            <a:ext cx="1045800" cy="216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Adicionar ao Carrinho</a:t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6"/>
          <p:cNvSpPr/>
          <p:nvPr/>
        </p:nvSpPr>
        <p:spPr>
          <a:xfrm>
            <a:off x="3022575" y="1945213"/>
            <a:ext cx="456900" cy="21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257096" y="1974001"/>
            <a:ext cx="159302" cy="15930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2" name="Google Shape;262;p26"/>
          <p:cNvSpPr txBox="1"/>
          <p:nvPr/>
        </p:nvSpPr>
        <p:spPr>
          <a:xfrm>
            <a:off x="3022575" y="1892113"/>
            <a:ext cx="38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26"/>
          <p:cNvSpPr/>
          <p:nvPr/>
        </p:nvSpPr>
        <p:spPr>
          <a:xfrm>
            <a:off x="1731100" y="2999100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Preco: R$Precoproduto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6"/>
          <p:cNvSpPr/>
          <p:nvPr/>
        </p:nvSpPr>
        <p:spPr>
          <a:xfrm>
            <a:off x="1803250" y="3353100"/>
            <a:ext cx="1045800" cy="216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Adicionar ao Carrinho</a:t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6"/>
          <p:cNvSpPr/>
          <p:nvPr/>
        </p:nvSpPr>
        <p:spPr>
          <a:xfrm>
            <a:off x="3022575" y="3353100"/>
            <a:ext cx="456900" cy="21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6" name="Google Shape;26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257096" y="3381888"/>
            <a:ext cx="159302" cy="15930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7" name="Google Shape;267;p26"/>
          <p:cNvSpPr txBox="1"/>
          <p:nvPr/>
        </p:nvSpPr>
        <p:spPr>
          <a:xfrm>
            <a:off x="3022575" y="3300000"/>
            <a:ext cx="38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26"/>
          <p:cNvSpPr/>
          <p:nvPr/>
        </p:nvSpPr>
        <p:spPr>
          <a:xfrm>
            <a:off x="1466650" y="1320888"/>
            <a:ext cx="1834200" cy="21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foi tão fácil </a:t>
            </a:r>
            <a:r>
              <a:rPr b="0" i="0" lang="pt-BR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Pedir Lanche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6"/>
          <p:cNvSpPr/>
          <p:nvPr/>
        </p:nvSpPr>
        <p:spPr>
          <a:xfrm>
            <a:off x="1123325" y="694350"/>
            <a:ext cx="226800" cy="165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"/>
          <p:cNvSpPr txBox="1"/>
          <p:nvPr>
            <p:ph type="ctrTitle"/>
          </p:nvPr>
        </p:nvSpPr>
        <p:spPr>
          <a:xfrm>
            <a:off x="48195" y="124125"/>
            <a:ext cx="9806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None/>
            </a:pPr>
            <a:r>
              <a:rPr lang="pt-BR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n.2 Caso de teste: Produtos</a:t>
            </a: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48204" y="1281169"/>
            <a:ext cx="3588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Identificação: 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Nome: Teste de visualizar Produtos </a:t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ID: RN n.2</a:t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de criação: 10/05/2023 15:42 PM.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Autor: Pedro Marcelo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Descrição: caso de teste para visualização de Produtos</a:t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Pré-requisitos:</a:t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1.Acesso ao cardápio da empresa selecionada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2.Ter selecionado a categoria desejada na tela anterior</a:t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Etapas de teste: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1.acesse a tela principal do cardápio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2.Selecione a categoria desejada.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3.Visualize os Produtos</a:t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27"/>
          <p:cNvSpPr txBox="1"/>
          <p:nvPr/>
        </p:nvSpPr>
        <p:spPr>
          <a:xfrm>
            <a:off x="4346278" y="1280061"/>
            <a:ext cx="3588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 Esperado: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cliente deve ser redirecionado para tela de produtos correspondente a categoria que ele selecionou anteriormente</a:t>
            </a:r>
            <a:endParaRPr b="0" i="0" sz="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Critérios de sucesso: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cliente deve ser capaz de visualizar os produtos da respectiva categoria selecionada pelo mesmo</a:t>
            </a:r>
            <a:endParaRPr b="0" i="0" sz="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Notas de teste: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Durante a execução do teste, nenhum comportamento anormal ou inesperado foi detectado.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 realizado em 10/05/23 as 15:50 PM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1" name="Google Shape;281;p28"/>
          <p:cNvCxnSpPr/>
          <p:nvPr/>
        </p:nvCxnSpPr>
        <p:spPr>
          <a:xfrm flipH="1" rot="10800000">
            <a:off x="191162" y="1061285"/>
            <a:ext cx="492300" cy="350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2" name="Google Shape;282;p28"/>
          <p:cNvCxnSpPr/>
          <p:nvPr/>
        </p:nvCxnSpPr>
        <p:spPr>
          <a:xfrm>
            <a:off x="261896" y="789221"/>
            <a:ext cx="350700" cy="1068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83" name="Google Shape;283;p28"/>
          <p:cNvSpPr txBox="1"/>
          <p:nvPr/>
        </p:nvSpPr>
        <p:spPr>
          <a:xfrm>
            <a:off x="-5" y="51570"/>
            <a:ext cx="8515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0" i="0" lang="pt-BR" sz="33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n.3 Botão “Voltar”</a:t>
            </a:r>
            <a:endParaRPr b="0" i="0" sz="3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t/>
            </a:r>
            <a:endParaRPr b="0" i="0" sz="3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84" name="Google Shape;284;p28"/>
          <p:cNvCxnSpPr/>
          <p:nvPr/>
        </p:nvCxnSpPr>
        <p:spPr>
          <a:xfrm flipH="1">
            <a:off x="2598753" y="4113438"/>
            <a:ext cx="880800" cy="165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85" name="Google Shape;285;p28"/>
          <p:cNvSpPr txBox="1"/>
          <p:nvPr/>
        </p:nvSpPr>
        <p:spPr>
          <a:xfrm>
            <a:off x="4139004" y="1113275"/>
            <a:ext cx="32595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botão que permite voltar para tela de categorias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8"/>
          <p:cNvSpPr/>
          <p:nvPr/>
        </p:nvSpPr>
        <p:spPr>
          <a:xfrm>
            <a:off x="1072600" y="643325"/>
            <a:ext cx="2622300" cy="4367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7" name="Google Shape;287;p28"/>
          <p:cNvCxnSpPr/>
          <p:nvPr/>
        </p:nvCxnSpPr>
        <p:spPr>
          <a:xfrm>
            <a:off x="1079950" y="1322075"/>
            <a:ext cx="260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28"/>
          <p:cNvSpPr/>
          <p:nvPr/>
        </p:nvSpPr>
        <p:spPr>
          <a:xfrm>
            <a:off x="2993175" y="862425"/>
            <a:ext cx="583200" cy="36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 da Empresa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8"/>
          <p:cNvSpPr/>
          <p:nvPr/>
        </p:nvSpPr>
        <p:spPr>
          <a:xfrm>
            <a:off x="1123325" y="1598375"/>
            <a:ext cx="583200" cy="5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Categoria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8"/>
          <p:cNvSpPr/>
          <p:nvPr/>
        </p:nvSpPr>
        <p:spPr>
          <a:xfrm>
            <a:off x="1123325" y="2326300"/>
            <a:ext cx="583200" cy="5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Categoria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8"/>
          <p:cNvSpPr/>
          <p:nvPr/>
        </p:nvSpPr>
        <p:spPr>
          <a:xfrm>
            <a:off x="1123325" y="3006250"/>
            <a:ext cx="583200" cy="5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Categoria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8"/>
          <p:cNvSpPr/>
          <p:nvPr/>
        </p:nvSpPr>
        <p:spPr>
          <a:xfrm>
            <a:off x="1731100" y="2326300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Preco: R$Precoproduto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8"/>
          <p:cNvSpPr/>
          <p:nvPr/>
        </p:nvSpPr>
        <p:spPr>
          <a:xfrm>
            <a:off x="1803250" y="2680300"/>
            <a:ext cx="1045800" cy="216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Adicionar ao Carrinho</a:t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8"/>
          <p:cNvSpPr/>
          <p:nvPr/>
        </p:nvSpPr>
        <p:spPr>
          <a:xfrm>
            <a:off x="3022575" y="2680300"/>
            <a:ext cx="456900" cy="21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257096" y="2709088"/>
            <a:ext cx="159302" cy="15930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6" name="Google Shape;296;p28"/>
          <p:cNvSpPr txBox="1"/>
          <p:nvPr/>
        </p:nvSpPr>
        <p:spPr>
          <a:xfrm>
            <a:off x="3022575" y="2627200"/>
            <a:ext cx="38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p28"/>
          <p:cNvSpPr/>
          <p:nvPr/>
        </p:nvSpPr>
        <p:spPr>
          <a:xfrm>
            <a:off x="1731100" y="1598363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Preco: R$ Precoproduto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8"/>
          <p:cNvSpPr/>
          <p:nvPr/>
        </p:nvSpPr>
        <p:spPr>
          <a:xfrm>
            <a:off x="1803250" y="1952363"/>
            <a:ext cx="1045800" cy="216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Adicionar ao Carrinho</a:t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8"/>
          <p:cNvSpPr/>
          <p:nvPr/>
        </p:nvSpPr>
        <p:spPr>
          <a:xfrm>
            <a:off x="3022575" y="1952363"/>
            <a:ext cx="456900" cy="21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0" name="Google Shape;30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257096" y="1981151"/>
            <a:ext cx="159302" cy="15930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1" name="Google Shape;301;p28"/>
          <p:cNvSpPr txBox="1"/>
          <p:nvPr/>
        </p:nvSpPr>
        <p:spPr>
          <a:xfrm>
            <a:off x="3022575" y="1899263"/>
            <a:ext cx="38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1803250" y="3006238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Preco: R$Precoproduto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8"/>
          <p:cNvSpPr/>
          <p:nvPr/>
        </p:nvSpPr>
        <p:spPr>
          <a:xfrm>
            <a:off x="1875400" y="3360238"/>
            <a:ext cx="1045800" cy="216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Adicionar ao Carrinho</a:t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8"/>
          <p:cNvSpPr/>
          <p:nvPr/>
        </p:nvSpPr>
        <p:spPr>
          <a:xfrm>
            <a:off x="3094725" y="3360238"/>
            <a:ext cx="456900" cy="21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5" name="Google Shape;30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329246" y="3389026"/>
            <a:ext cx="159302" cy="15930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6" name="Google Shape;306;p28"/>
          <p:cNvSpPr txBox="1"/>
          <p:nvPr/>
        </p:nvSpPr>
        <p:spPr>
          <a:xfrm>
            <a:off x="3094725" y="3307138"/>
            <a:ext cx="38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p28"/>
          <p:cNvSpPr/>
          <p:nvPr/>
        </p:nvSpPr>
        <p:spPr>
          <a:xfrm>
            <a:off x="1123325" y="762975"/>
            <a:ext cx="226800" cy="1593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8" name="Google Shape;308;p28"/>
          <p:cNvCxnSpPr/>
          <p:nvPr/>
        </p:nvCxnSpPr>
        <p:spPr>
          <a:xfrm rot="10800000">
            <a:off x="1481950" y="862425"/>
            <a:ext cx="321300" cy="15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9" name="Google Shape;309;p28"/>
          <p:cNvCxnSpPr/>
          <p:nvPr/>
        </p:nvCxnSpPr>
        <p:spPr>
          <a:xfrm rot="10800000">
            <a:off x="1232525" y="1033175"/>
            <a:ext cx="117600" cy="28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9"/>
          <p:cNvSpPr txBox="1"/>
          <p:nvPr>
            <p:ph type="ctrTitle"/>
          </p:nvPr>
        </p:nvSpPr>
        <p:spPr>
          <a:xfrm>
            <a:off x="-10" y="-30957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n.4 Botão “Seleção de Quantidade”</a:t>
            </a:r>
            <a:endParaRPr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5" name="Google Shape;315;p29"/>
          <p:cNvCxnSpPr/>
          <p:nvPr/>
        </p:nvCxnSpPr>
        <p:spPr>
          <a:xfrm flipH="1" rot="10800000">
            <a:off x="1561207" y="2941863"/>
            <a:ext cx="149700" cy="377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16" name="Google Shape;316;p29"/>
          <p:cNvSpPr txBox="1"/>
          <p:nvPr/>
        </p:nvSpPr>
        <p:spPr>
          <a:xfrm>
            <a:off x="4081499" y="1071450"/>
            <a:ext cx="38052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cliente deve ser capaz de selecionar a quantidade de 1 a 5, do produto que ele deseja pedir.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7" name="Google Shape;317;p29"/>
          <p:cNvCxnSpPr/>
          <p:nvPr/>
        </p:nvCxnSpPr>
        <p:spPr>
          <a:xfrm rot="10800000">
            <a:off x="1947894" y="2979814"/>
            <a:ext cx="335100" cy="3015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8" name="Google Shape;318;p29"/>
          <p:cNvCxnSpPr/>
          <p:nvPr/>
        </p:nvCxnSpPr>
        <p:spPr>
          <a:xfrm flipH="1">
            <a:off x="2598753" y="4106288"/>
            <a:ext cx="880800" cy="165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9" name="Google Shape;319;p29"/>
          <p:cNvCxnSpPr/>
          <p:nvPr/>
        </p:nvCxnSpPr>
        <p:spPr>
          <a:xfrm rot="10800000">
            <a:off x="3257050" y="4076300"/>
            <a:ext cx="125400" cy="58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20" name="Google Shape;320;p29"/>
          <p:cNvSpPr/>
          <p:nvPr/>
        </p:nvSpPr>
        <p:spPr>
          <a:xfrm>
            <a:off x="1072600" y="636175"/>
            <a:ext cx="2622300" cy="4367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1" name="Google Shape;321;p29"/>
          <p:cNvCxnSpPr/>
          <p:nvPr/>
        </p:nvCxnSpPr>
        <p:spPr>
          <a:xfrm>
            <a:off x="1079950" y="1314925"/>
            <a:ext cx="260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2" name="Google Shape;322;p29"/>
          <p:cNvSpPr/>
          <p:nvPr/>
        </p:nvSpPr>
        <p:spPr>
          <a:xfrm>
            <a:off x="3104350" y="898150"/>
            <a:ext cx="583200" cy="36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 da Empresa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9"/>
          <p:cNvSpPr/>
          <p:nvPr/>
        </p:nvSpPr>
        <p:spPr>
          <a:xfrm>
            <a:off x="1123325" y="1591225"/>
            <a:ext cx="583200" cy="5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Categoria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9"/>
          <p:cNvSpPr/>
          <p:nvPr/>
        </p:nvSpPr>
        <p:spPr>
          <a:xfrm>
            <a:off x="1123325" y="2319150"/>
            <a:ext cx="583200" cy="5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Categoria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9"/>
          <p:cNvSpPr/>
          <p:nvPr/>
        </p:nvSpPr>
        <p:spPr>
          <a:xfrm>
            <a:off x="1123325" y="2999100"/>
            <a:ext cx="583200" cy="5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Categoria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9"/>
          <p:cNvSpPr/>
          <p:nvPr/>
        </p:nvSpPr>
        <p:spPr>
          <a:xfrm>
            <a:off x="1731100" y="2319150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Preco: R$Precoproduto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9"/>
          <p:cNvSpPr/>
          <p:nvPr/>
        </p:nvSpPr>
        <p:spPr>
          <a:xfrm>
            <a:off x="1803250" y="2673150"/>
            <a:ext cx="1045800" cy="216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Adicionar ao Carrinho</a:t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9"/>
          <p:cNvSpPr/>
          <p:nvPr/>
        </p:nvSpPr>
        <p:spPr>
          <a:xfrm>
            <a:off x="3022575" y="2673150"/>
            <a:ext cx="456900" cy="21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9" name="Google Shape;32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257096" y="2701938"/>
            <a:ext cx="159302" cy="15930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0" name="Google Shape;330;p29"/>
          <p:cNvSpPr txBox="1"/>
          <p:nvPr/>
        </p:nvSpPr>
        <p:spPr>
          <a:xfrm>
            <a:off x="3022575" y="2620050"/>
            <a:ext cx="38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29"/>
          <p:cNvSpPr/>
          <p:nvPr/>
        </p:nvSpPr>
        <p:spPr>
          <a:xfrm>
            <a:off x="1731100" y="1591213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Preco: R$Precoproduto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1803250" y="1945213"/>
            <a:ext cx="1045800" cy="216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Adicionar ao Carrinho</a:t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9"/>
          <p:cNvSpPr/>
          <p:nvPr/>
        </p:nvSpPr>
        <p:spPr>
          <a:xfrm>
            <a:off x="3022575" y="1945213"/>
            <a:ext cx="456900" cy="21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" name="Google Shape;33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257096" y="1974001"/>
            <a:ext cx="159302" cy="15930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5" name="Google Shape;335;p29"/>
          <p:cNvSpPr txBox="1"/>
          <p:nvPr/>
        </p:nvSpPr>
        <p:spPr>
          <a:xfrm>
            <a:off x="3022575" y="1892113"/>
            <a:ext cx="38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29"/>
          <p:cNvSpPr/>
          <p:nvPr/>
        </p:nvSpPr>
        <p:spPr>
          <a:xfrm>
            <a:off x="1731100" y="2999100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Preco: R$Precoproduto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9"/>
          <p:cNvSpPr/>
          <p:nvPr/>
        </p:nvSpPr>
        <p:spPr>
          <a:xfrm>
            <a:off x="1803250" y="3353100"/>
            <a:ext cx="1045800" cy="216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Adicionar ao Carrinho</a:t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9"/>
          <p:cNvSpPr/>
          <p:nvPr/>
        </p:nvSpPr>
        <p:spPr>
          <a:xfrm>
            <a:off x="3022575" y="3353100"/>
            <a:ext cx="456900" cy="21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9" name="Google Shape;33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257096" y="3381888"/>
            <a:ext cx="159302" cy="15930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0" name="Google Shape;340;p29"/>
          <p:cNvSpPr txBox="1"/>
          <p:nvPr/>
        </p:nvSpPr>
        <p:spPr>
          <a:xfrm>
            <a:off x="3022575" y="3300000"/>
            <a:ext cx="38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29"/>
          <p:cNvSpPr/>
          <p:nvPr/>
        </p:nvSpPr>
        <p:spPr>
          <a:xfrm>
            <a:off x="1466650" y="1320888"/>
            <a:ext cx="1834200" cy="21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foi tão fácil </a:t>
            </a:r>
            <a:r>
              <a:rPr b="0" i="0" lang="pt-BR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Pedir Lanche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9"/>
          <p:cNvSpPr/>
          <p:nvPr/>
        </p:nvSpPr>
        <p:spPr>
          <a:xfrm>
            <a:off x="1123325" y="694350"/>
            <a:ext cx="226800" cy="165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3" name="Google Shape;343;p29"/>
          <p:cNvCxnSpPr/>
          <p:nvPr/>
        </p:nvCxnSpPr>
        <p:spPr>
          <a:xfrm rot="10800000">
            <a:off x="3288400" y="3679050"/>
            <a:ext cx="62700" cy="472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44" name="Google Shape;344;p29"/>
          <p:cNvCxnSpPr/>
          <p:nvPr/>
        </p:nvCxnSpPr>
        <p:spPr>
          <a:xfrm flipH="1" rot="10800000">
            <a:off x="2801475" y="3679050"/>
            <a:ext cx="221100" cy="47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45" name="Google Shape;345;p29"/>
          <p:cNvCxnSpPr/>
          <p:nvPr/>
        </p:nvCxnSpPr>
        <p:spPr>
          <a:xfrm flipH="1">
            <a:off x="3454150" y="2925513"/>
            <a:ext cx="159600" cy="378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0"/>
          <p:cNvSpPr txBox="1"/>
          <p:nvPr/>
        </p:nvSpPr>
        <p:spPr>
          <a:xfrm>
            <a:off x="0" y="44422"/>
            <a:ext cx="85155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5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i="0" lang="pt-BR" sz="33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n.5 Botão  “Adicionar ao carrinho”</a:t>
            </a:r>
            <a:endParaRPr b="0" i="0" sz="3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t/>
            </a:r>
            <a:endParaRPr b="0" i="0" sz="3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51" name="Google Shape;351;p30"/>
          <p:cNvCxnSpPr/>
          <p:nvPr/>
        </p:nvCxnSpPr>
        <p:spPr>
          <a:xfrm flipH="1">
            <a:off x="2598753" y="4106288"/>
            <a:ext cx="880800" cy="165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52" name="Google Shape;352;p30"/>
          <p:cNvSpPr txBox="1"/>
          <p:nvPr/>
        </p:nvSpPr>
        <p:spPr>
          <a:xfrm>
            <a:off x="4139000" y="798625"/>
            <a:ext cx="32595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cliente deve ser capaz de adicionar o produto desejado ao carrinho do cardápio, para depois finalizar o pedido.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0"/>
          <p:cNvSpPr/>
          <p:nvPr/>
        </p:nvSpPr>
        <p:spPr>
          <a:xfrm>
            <a:off x="1072600" y="636175"/>
            <a:ext cx="2622300" cy="4367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" name="Google Shape;354;p30"/>
          <p:cNvCxnSpPr/>
          <p:nvPr/>
        </p:nvCxnSpPr>
        <p:spPr>
          <a:xfrm>
            <a:off x="1079950" y="1314925"/>
            <a:ext cx="260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" name="Google Shape;355;p30"/>
          <p:cNvSpPr/>
          <p:nvPr/>
        </p:nvSpPr>
        <p:spPr>
          <a:xfrm>
            <a:off x="3104350" y="898150"/>
            <a:ext cx="583200" cy="36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 da Empresa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0"/>
          <p:cNvSpPr/>
          <p:nvPr/>
        </p:nvSpPr>
        <p:spPr>
          <a:xfrm>
            <a:off x="1123325" y="1591225"/>
            <a:ext cx="583200" cy="5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Categoria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0"/>
          <p:cNvSpPr/>
          <p:nvPr/>
        </p:nvSpPr>
        <p:spPr>
          <a:xfrm>
            <a:off x="1123325" y="2319150"/>
            <a:ext cx="583200" cy="5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Categoria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0"/>
          <p:cNvSpPr/>
          <p:nvPr/>
        </p:nvSpPr>
        <p:spPr>
          <a:xfrm>
            <a:off x="1123325" y="2999100"/>
            <a:ext cx="583200" cy="5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Categoria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0"/>
          <p:cNvSpPr/>
          <p:nvPr/>
        </p:nvSpPr>
        <p:spPr>
          <a:xfrm>
            <a:off x="1731100" y="2319150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Preco: R$Precoproduto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1803250" y="2673150"/>
            <a:ext cx="1045800" cy="216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Adicionar ao Carrinho</a:t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0"/>
          <p:cNvSpPr/>
          <p:nvPr/>
        </p:nvSpPr>
        <p:spPr>
          <a:xfrm>
            <a:off x="3022575" y="2673150"/>
            <a:ext cx="456900" cy="21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2" name="Google Shape;36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257096" y="2701938"/>
            <a:ext cx="159302" cy="15930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3" name="Google Shape;363;p30"/>
          <p:cNvSpPr txBox="1"/>
          <p:nvPr/>
        </p:nvSpPr>
        <p:spPr>
          <a:xfrm>
            <a:off x="3022575" y="2620050"/>
            <a:ext cx="38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30"/>
          <p:cNvSpPr/>
          <p:nvPr/>
        </p:nvSpPr>
        <p:spPr>
          <a:xfrm>
            <a:off x="1731100" y="1591213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Preco: R$Precoproduto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0"/>
          <p:cNvSpPr/>
          <p:nvPr/>
        </p:nvSpPr>
        <p:spPr>
          <a:xfrm>
            <a:off x="1803250" y="1945213"/>
            <a:ext cx="1045800" cy="216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Adicionar ao Carrinho</a:t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0"/>
          <p:cNvSpPr/>
          <p:nvPr/>
        </p:nvSpPr>
        <p:spPr>
          <a:xfrm>
            <a:off x="3022575" y="1945213"/>
            <a:ext cx="456900" cy="21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7" name="Google Shape;36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257096" y="1974001"/>
            <a:ext cx="159302" cy="15930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8" name="Google Shape;368;p30"/>
          <p:cNvSpPr txBox="1"/>
          <p:nvPr/>
        </p:nvSpPr>
        <p:spPr>
          <a:xfrm>
            <a:off x="3022575" y="1892113"/>
            <a:ext cx="38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30"/>
          <p:cNvSpPr/>
          <p:nvPr/>
        </p:nvSpPr>
        <p:spPr>
          <a:xfrm>
            <a:off x="1731100" y="2999100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Preco: R$Precoproduto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0"/>
          <p:cNvSpPr/>
          <p:nvPr/>
        </p:nvSpPr>
        <p:spPr>
          <a:xfrm>
            <a:off x="1803250" y="3353100"/>
            <a:ext cx="1045800" cy="216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Adicionar ao Carrinho</a:t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0"/>
          <p:cNvSpPr/>
          <p:nvPr/>
        </p:nvSpPr>
        <p:spPr>
          <a:xfrm>
            <a:off x="3022575" y="3353100"/>
            <a:ext cx="456900" cy="21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2" name="Google Shape;37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257096" y="3381888"/>
            <a:ext cx="159302" cy="15930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3" name="Google Shape;373;p30"/>
          <p:cNvSpPr txBox="1"/>
          <p:nvPr/>
        </p:nvSpPr>
        <p:spPr>
          <a:xfrm>
            <a:off x="3022575" y="3300000"/>
            <a:ext cx="38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30"/>
          <p:cNvSpPr/>
          <p:nvPr/>
        </p:nvSpPr>
        <p:spPr>
          <a:xfrm>
            <a:off x="1466650" y="1344898"/>
            <a:ext cx="1834200" cy="19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foi tão fácil </a:t>
            </a:r>
            <a:r>
              <a:rPr b="0" i="0" lang="pt-BR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Pedir Lanche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0"/>
          <p:cNvSpPr/>
          <p:nvPr/>
        </p:nvSpPr>
        <p:spPr>
          <a:xfrm>
            <a:off x="1123325" y="694350"/>
            <a:ext cx="226800" cy="165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6" name="Google Shape;376;p30"/>
          <p:cNvCxnSpPr/>
          <p:nvPr/>
        </p:nvCxnSpPr>
        <p:spPr>
          <a:xfrm rot="10800000">
            <a:off x="2793300" y="2090425"/>
            <a:ext cx="407100" cy="285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7" name="Google Shape;377;p30"/>
          <p:cNvCxnSpPr/>
          <p:nvPr/>
        </p:nvCxnSpPr>
        <p:spPr>
          <a:xfrm flipH="1" rot="10800000">
            <a:off x="1764500" y="2121675"/>
            <a:ext cx="200100" cy="1929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1"/>
          <p:cNvSpPr txBox="1"/>
          <p:nvPr>
            <p:ph type="ctrTitle"/>
          </p:nvPr>
        </p:nvSpPr>
        <p:spPr>
          <a:xfrm>
            <a:off x="54320" y="0"/>
            <a:ext cx="9806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None/>
            </a:pPr>
            <a:r>
              <a:rPr lang="pt-BR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n.5 Adicionar Pedido</a:t>
            </a: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31"/>
          <p:cNvSpPr txBox="1"/>
          <p:nvPr>
            <p:ph idx="1" type="subTitle"/>
          </p:nvPr>
        </p:nvSpPr>
        <p:spPr>
          <a:xfrm>
            <a:off x="155679" y="1118244"/>
            <a:ext cx="3588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0000" lnSpcReduction="20000"/>
          </a:bodyPr>
          <a:lstStyle/>
          <a:p>
            <a:pPr indent="-1397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Identificação: 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Nome: Teste de adicionar pedido 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ID: RN n.5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de criação: 05/05/2023 14:15 PM.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Autor: Pedro Marcelo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Descrição: caso de teste para confirmar um produto no carrinho de compras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None/>
            </a:pPr>
            <a:r>
              <a:rPr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Pré-requisitos: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1.Acesso ao cardápio da empresa selecionada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Etapas de teste: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1.acesso a tela principal do cardápio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2.Selecionar a categoria desejada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3.escolher o produto e quantidade desejado a partir da lista de produtos disponíveis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4.cliclar no botão “adicionar pedido”</a:t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4" name="Google Shape;384;p31"/>
          <p:cNvSpPr txBox="1"/>
          <p:nvPr/>
        </p:nvSpPr>
        <p:spPr>
          <a:xfrm>
            <a:off x="4453753" y="1117136"/>
            <a:ext cx="3588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 Esperado: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cliente deve ser redirecionado para tela de finalizar pedido onde contém os campos vazios “empresa, Nome e endereço” também deve conter o resumo do pedido com os produtos selecionados sua quantidade e seu preço total, com botões para voltar às categorias, adicionar um novo item e uma forma de pagamento, contém também o “botão de finalizar pedido”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Critérios de sucesso: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cliente deve ser capaz de adicionar pedido ao carrinho e ser redirecionado a tela “finalizar pedido”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Notas de teste: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Durante a execução do teste, nenhum comportamento anormal ou inesperado foi detectado.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 realizado em 05/05/23 às 14:30 PM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2"/>
          <p:cNvSpPr txBox="1"/>
          <p:nvPr>
            <p:ph type="ctrTitle"/>
          </p:nvPr>
        </p:nvSpPr>
        <p:spPr>
          <a:xfrm>
            <a:off x="-30875" y="-189825"/>
            <a:ext cx="78867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n.6 Informações do Cliente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0" name="Google Shape;390;p32"/>
          <p:cNvSpPr txBox="1"/>
          <p:nvPr/>
        </p:nvSpPr>
        <p:spPr>
          <a:xfrm>
            <a:off x="3667859" y="650202"/>
            <a:ext cx="38052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Tela Exibida após adicionar um produto ao </a:t>
            </a:r>
            <a:r>
              <a:rPr b="0" i="0" lang="pt-BR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carrinho, possibilita o cliente a adicionar </a:t>
            </a: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seus dados pessoais, antes de finalizar o pedido. 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2"/>
          <p:cNvSpPr/>
          <p:nvPr/>
        </p:nvSpPr>
        <p:spPr>
          <a:xfrm>
            <a:off x="494550" y="506786"/>
            <a:ext cx="2116200" cy="428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2"/>
          <p:cNvSpPr/>
          <p:nvPr/>
        </p:nvSpPr>
        <p:spPr>
          <a:xfrm>
            <a:off x="1978472" y="650205"/>
            <a:ext cx="548100" cy="41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0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 Empresa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2"/>
          <p:cNvSpPr/>
          <p:nvPr/>
        </p:nvSpPr>
        <p:spPr>
          <a:xfrm>
            <a:off x="596713" y="1377401"/>
            <a:ext cx="1911900" cy="3232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2"/>
          <p:cNvSpPr txBox="1"/>
          <p:nvPr/>
        </p:nvSpPr>
        <p:spPr>
          <a:xfrm>
            <a:off x="769667" y="1377401"/>
            <a:ext cx="130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Dados do Usuário: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p32"/>
          <p:cNvSpPr/>
          <p:nvPr/>
        </p:nvSpPr>
        <p:spPr>
          <a:xfrm>
            <a:off x="770636" y="1721246"/>
            <a:ext cx="1527900" cy="26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2"/>
          <p:cNvSpPr/>
          <p:nvPr/>
        </p:nvSpPr>
        <p:spPr>
          <a:xfrm>
            <a:off x="769667" y="2063139"/>
            <a:ext cx="1527900" cy="26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 de telefone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2"/>
          <p:cNvSpPr/>
          <p:nvPr/>
        </p:nvSpPr>
        <p:spPr>
          <a:xfrm>
            <a:off x="769667" y="2405032"/>
            <a:ext cx="1527900" cy="26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Endereço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2"/>
          <p:cNvSpPr txBox="1"/>
          <p:nvPr/>
        </p:nvSpPr>
        <p:spPr>
          <a:xfrm>
            <a:off x="769667" y="2751000"/>
            <a:ext cx="130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Resumo do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32"/>
          <p:cNvSpPr txBox="1"/>
          <p:nvPr/>
        </p:nvSpPr>
        <p:spPr>
          <a:xfrm>
            <a:off x="769667" y="3005800"/>
            <a:ext cx="130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Produtos Selecionados: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32"/>
          <p:cNvSpPr/>
          <p:nvPr/>
        </p:nvSpPr>
        <p:spPr>
          <a:xfrm>
            <a:off x="718505" y="3316458"/>
            <a:ext cx="1688700" cy="6627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2"/>
          <p:cNvSpPr/>
          <p:nvPr/>
        </p:nvSpPr>
        <p:spPr>
          <a:xfrm>
            <a:off x="718566" y="3474509"/>
            <a:ext cx="1688700" cy="26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 x quatidade = R$ PreçoProduto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2"/>
          <p:cNvSpPr/>
          <p:nvPr/>
        </p:nvSpPr>
        <p:spPr>
          <a:xfrm>
            <a:off x="535484" y="612996"/>
            <a:ext cx="183000" cy="162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2"/>
          <p:cNvSpPr/>
          <p:nvPr/>
        </p:nvSpPr>
        <p:spPr>
          <a:xfrm>
            <a:off x="635026" y="1203663"/>
            <a:ext cx="1799100" cy="16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foi tão fácil </a:t>
            </a:r>
            <a:r>
              <a:rPr b="0" i="0" lang="pt-BR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Pedir Lanche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2"/>
          <p:cNvSpPr/>
          <p:nvPr/>
        </p:nvSpPr>
        <p:spPr>
          <a:xfrm>
            <a:off x="660121" y="4280238"/>
            <a:ext cx="1527900" cy="26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Observação: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2"/>
          <p:cNvSpPr txBox="1"/>
          <p:nvPr/>
        </p:nvSpPr>
        <p:spPr>
          <a:xfrm>
            <a:off x="643961" y="4030396"/>
            <a:ext cx="130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Observação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" name="Google Shape;406;p32"/>
          <p:cNvSpPr/>
          <p:nvPr/>
        </p:nvSpPr>
        <p:spPr>
          <a:xfrm>
            <a:off x="2113297" y="3514704"/>
            <a:ext cx="183000" cy="162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7" name="Google Shape;407;p32"/>
          <p:cNvCxnSpPr/>
          <p:nvPr/>
        </p:nvCxnSpPr>
        <p:spPr>
          <a:xfrm>
            <a:off x="494550" y="1202636"/>
            <a:ext cx="2116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8" name="Google Shape;408;p32"/>
          <p:cNvCxnSpPr>
            <a:endCxn id="395" idx="3"/>
          </p:cNvCxnSpPr>
          <p:nvPr/>
        </p:nvCxnSpPr>
        <p:spPr>
          <a:xfrm flipH="1">
            <a:off x="2298536" y="1287746"/>
            <a:ext cx="1069200" cy="56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9" name="Google Shape;409;p32"/>
          <p:cNvCxnSpPr>
            <a:endCxn id="396" idx="3"/>
          </p:cNvCxnSpPr>
          <p:nvPr/>
        </p:nvCxnSpPr>
        <p:spPr>
          <a:xfrm rot="10800000">
            <a:off x="2297567" y="2196339"/>
            <a:ext cx="688200" cy="21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0" name="Google Shape;410;p32"/>
          <p:cNvCxnSpPr>
            <a:endCxn id="397" idx="3"/>
          </p:cNvCxnSpPr>
          <p:nvPr/>
        </p:nvCxnSpPr>
        <p:spPr>
          <a:xfrm rot="10800000">
            <a:off x="2297567" y="2538232"/>
            <a:ext cx="829500" cy="38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411" name="Google Shape;41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8475" y="2422224"/>
            <a:ext cx="236100" cy="23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1750" y="2186449"/>
            <a:ext cx="236100" cy="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3" name="Google Shape;413;p32"/>
          <p:cNvCxnSpPr/>
          <p:nvPr/>
        </p:nvCxnSpPr>
        <p:spPr>
          <a:xfrm rot="10800000">
            <a:off x="3853600" y="2346375"/>
            <a:ext cx="1105800" cy="24000"/>
          </a:xfrm>
          <a:prstGeom prst="straightConnector1">
            <a:avLst/>
          </a:prstGeom>
          <a:noFill/>
          <a:ln cap="flat" cmpd="sng" w="9525">
            <a:solidFill>
              <a:srgbClr val="E9EFF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4" name="Google Shape;414;p32"/>
          <p:cNvSpPr txBox="1"/>
          <p:nvPr/>
        </p:nvSpPr>
        <p:spPr>
          <a:xfrm>
            <a:off x="4959400" y="2104400"/>
            <a:ext cx="1852500" cy="831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Botão que abre a aba de informações de adicionais</a:t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3"/>
          <p:cNvSpPr txBox="1"/>
          <p:nvPr>
            <p:ph type="ctrTitle"/>
          </p:nvPr>
        </p:nvSpPr>
        <p:spPr>
          <a:xfrm>
            <a:off x="-30875" y="-189825"/>
            <a:ext cx="78867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n.6 Informações do Cliente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0" name="Google Shape;420;p33"/>
          <p:cNvSpPr txBox="1"/>
          <p:nvPr/>
        </p:nvSpPr>
        <p:spPr>
          <a:xfrm>
            <a:off x="3667859" y="650202"/>
            <a:ext cx="38052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Tela Exibida após adicionar um produto ao </a:t>
            </a:r>
            <a:r>
              <a:rPr b="0" i="0" lang="pt-BR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carrinho, possibilita o cliente a adicionar </a:t>
            </a: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seus dados pessoais, antes de finalizar o pedido. 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3"/>
          <p:cNvSpPr/>
          <p:nvPr/>
        </p:nvSpPr>
        <p:spPr>
          <a:xfrm>
            <a:off x="494550" y="506786"/>
            <a:ext cx="2116200" cy="428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3"/>
          <p:cNvSpPr/>
          <p:nvPr/>
        </p:nvSpPr>
        <p:spPr>
          <a:xfrm>
            <a:off x="1978472" y="650205"/>
            <a:ext cx="548100" cy="41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0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 Empresa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3"/>
          <p:cNvSpPr/>
          <p:nvPr/>
        </p:nvSpPr>
        <p:spPr>
          <a:xfrm>
            <a:off x="596688" y="1506051"/>
            <a:ext cx="1911900" cy="3232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3"/>
          <p:cNvSpPr txBox="1"/>
          <p:nvPr/>
        </p:nvSpPr>
        <p:spPr>
          <a:xfrm>
            <a:off x="769667" y="1377401"/>
            <a:ext cx="130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Dados do Usuário: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33"/>
          <p:cNvSpPr/>
          <p:nvPr/>
        </p:nvSpPr>
        <p:spPr>
          <a:xfrm>
            <a:off x="770636" y="1721246"/>
            <a:ext cx="1527900" cy="26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3"/>
          <p:cNvSpPr/>
          <p:nvPr/>
        </p:nvSpPr>
        <p:spPr>
          <a:xfrm>
            <a:off x="769667" y="2063139"/>
            <a:ext cx="1527900" cy="26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 de telefone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3"/>
          <p:cNvSpPr/>
          <p:nvPr/>
        </p:nvSpPr>
        <p:spPr>
          <a:xfrm>
            <a:off x="769667" y="2405032"/>
            <a:ext cx="1527900" cy="26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Endereço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3"/>
          <p:cNvSpPr/>
          <p:nvPr/>
        </p:nvSpPr>
        <p:spPr>
          <a:xfrm>
            <a:off x="535484" y="612996"/>
            <a:ext cx="183000" cy="162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3"/>
          <p:cNvSpPr/>
          <p:nvPr/>
        </p:nvSpPr>
        <p:spPr>
          <a:xfrm>
            <a:off x="635026" y="1203663"/>
            <a:ext cx="1799100" cy="16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foi tão fácil </a:t>
            </a:r>
            <a:r>
              <a:rPr b="0" i="0" lang="pt-BR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Pedir Lanche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0" name="Google Shape;430;p33"/>
          <p:cNvCxnSpPr/>
          <p:nvPr/>
        </p:nvCxnSpPr>
        <p:spPr>
          <a:xfrm>
            <a:off x="494550" y="1202636"/>
            <a:ext cx="2116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" name="Google Shape;431;p33"/>
          <p:cNvCxnSpPr>
            <a:endCxn id="425" idx="3"/>
          </p:cNvCxnSpPr>
          <p:nvPr/>
        </p:nvCxnSpPr>
        <p:spPr>
          <a:xfrm flipH="1">
            <a:off x="2298536" y="1287746"/>
            <a:ext cx="1069200" cy="56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2" name="Google Shape;432;p33"/>
          <p:cNvCxnSpPr>
            <a:endCxn id="426" idx="3"/>
          </p:cNvCxnSpPr>
          <p:nvPr/>
        </p:nvCxnSpPr>
        <p:spPr>
          <a:xfrm rot="10800000">
            <a:off x="2297567" y="2196339"/>
            <a:ext cx="688200" cy="21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3" name="Google Shape;433;p33"/>
          <p:cNvCxnSpPr/>
          <p:nvPr/>
        </p:nvCxnSpPr>
        <p:spPr>
          <a:xfrm rot="10800000">
            <a:off x="2365817" y="2897807"/>
            <a:ext cx="829500" cy="38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434" name="Google Shape;43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8475" y="2422224"/>
            <a:ext cx="236100" cy="2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3"/>
          <p:cNvSpPr/>
          <p:nvPr/>
        </p:nvSpPr>
        <p:spPr>
          <a:xfrm>
            <a:off x="853042" y="2746907"/>
            <a:ext cx="1527900" cy="26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Complemento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3"/>
          <p:cNvSpPr/>
          <p:nvPr/>
        </p:nvSpPr>
        <p:spPr>
          <a:xfrm>
            <a:off x="853042" y="3088782"/>
            <a:ext cx="1527900" cy="26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bairro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3"/>
          <p:cNvSpPr/>
          <p:nvPr/>
        </p:nvSpPr>
        <p:spPr>
          <a:xfrm>
            <a:off x="853042" y="3430657"/>
            <a:ext cx="1527900" cy="26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Ponto de referencoa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3"/>
          <p:cNvSpPr txBox="1"/>
          <p:nvPr/>
        </p:nvSpPr>
        <p:spPr>
          <a:xfrm>
            <a:off x="736675" y="3873825"/>
            <a:ext cx="137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Resumo do pedido: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" name="Google Shape;439;p33"/>
          <p:cNvSpPr txBox="1"/>
          <p:nvPr/>
        </p:nvSpPr>
        <p:spPr>
          <a:xfrm>
            <a:off x="718475" y="4031300"/>
            <a:ext cx="329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Produtos Selecionados: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33"/>
          <p:cNvSpPr/>
          <p:nvPr/>
        </p:nvSpPr>
        <p:spPr>
          <a:xfrm>
            <a:off x="701425" y="4324850"/>
            <a:ext cx="1664400" cy="413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3"/>
          <p:cNvSpPr/>
          <p:nvPr/>
        </p:nvSpPr>
        <p:spPr>
          <a:xfrm>
            <a:off x="769675" y="4389300"/>
            <a:ext cx="1527900" cy="30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 selecionado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3"/>
          <p:cNvSpPr/>
          <p:nvPr/>
        </p:nvSpPr>
        <p:spPr>
          <a:xfrm>
            <a:off x="2005022" y="4456279"/>
            <a:ext cx="183000" cy="162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3" name="Google Shape;443;p33"/>
          <p:cNvCxnSpPr/>
          <p:nvPr/>
        </p:nvCxnSpPr>
        <p:spPr>
          <a:xfrm rot="10800000">
            <a:off x="2365817" y="2558870"/>
            <a:ext cx="829500" cy="38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4" name="Google Shape;444;p33"/>
          <p:cNvCxnSpPr/>
          <p:nvPr/>
        </p:nvCxnSpPr>
        <p:spPr>
          <a:xfrm rot="10800000">
            <a:off x="2418367" y="3194570"/>
            <a:ext cx="829500" cy="38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5" name="Google Shape;445;p33"/>
          <p:cNvCxnSpPr/>
          <p:nvPr/>
        </p:nvCxnSpPr>
        <p:spPr>
          <a:xfrm rot="10800000">
            <a:off x="2434117" y="3612932"/>
            <a:ext cx="829500" cy="38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4"/>
          <p:cNvSpPr txBox="1"/>
          <p:nvPr/>
        </p:nvSpPr>
        <p:spPr>
          <a:xfrm>
            <a:off x="-64275" y="737372"/>
            <a:ext cx="85155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5"/>
              <a:buFont typeface="Times New Roman"/>
              <a:buNone/>
            </a:pPr>
            <a:r>
              <a:rPr b="0" i="0" lang="pt-BR" sz="1715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n.7 Resumo Do pedido</a:t>
            </a:r>
            <a:endParaRPr b="0" i="0" sz="1715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5"/>
              <a:buFont typeface="Times New Roman"/>
              <a:buNone/>
            </a:pPr>
            <a:r>
              <a:t/>
            </a:r>
            <a:endParaRPr b="0" i="0" sz="1815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51" name="Google Shape;451;p34"/>
          <p:cNvCxnSpPr/>
          <p:nvPr/>
        </p:nvCxnSpPr>
        <p:spPr>
          <a:xfrm flipH="1">
            <a:off x="4113228" y="4067656"/>
            <a:ext cx="880800" cy="1893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52" name="Google Shape;452;p34"/>
          <p:cNvSpPr txBox="1"/>
          <p:nvPr/>
        </p:nvSpPr>
        <p:spPr>
          <a:xfrm>
            <a:off x="5796350" y="3160750"/>
            <a:ext cx="32595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parte de resumo do pedido mostra a quantidade, os produtos selecionados, o preço de cada item e o total do pedido, além disso, a caixa de Observação facilita a comunicação entre o estabelecimento e o cliente.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4"/>
          <p:cNvSpPr/>
          <p:nvPr/>
        </p:nvSpPr>
        <p:spPr>
          <a:xfrm>
            <a:off x="2587075" y="44425"/>
            <a:ext cx="2622300" cy="499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4" name="Google Shape;454;p34"/>
          <p:cNvCxnSpPr/>
          <p:nvPr/>
        </p:nvCxnSpPr>
        <p:spPr>
          <a:xfrm>
            <a:off x="2594425" y="798780"/>
            <a:ext cx="260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5" name="Google Shape;455;p34"/>
          <p:cNvSpPr/>
          <p:nvPr/>
        </p:nvSpPr>
        <p:spPr>
          <a:xfrm>
            <a:off x="4425950" y="211413"/>
            <a:ext cx="679200" cy="48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0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 Empresa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4"/>
          <p:cNvSpPr/>
          <p:nvPr/>
        </p:nvSpPr>
        <p:spPr>
          <a:xfrm>
            <a:off x="2713675" y="1058114"/>
            <a:ext cx="2369100" cy="3763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4"/>
          <p:cNvSpPr txBox="1"/>
          <p:nvPr/>
        </p:nvSpPr>
        <p:spPr>
          <a:xfrm>
            <a:off x="2928000" y="1058114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Dados do Usuário: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34"/>
          <p:cNvSpPr/>
          <p:nvPr/>
        </p:nvSpPr>
        <p:spPr>
          <a:xfrm>
            <a:off x="2929200" y="1458464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4"/>
          <p:cNvSpPr/>
          <p:nvPr/>
        </p:nvSpPr>
        <p:spPr>
          <a:xfrm>
            <a:off x="2928000" y="1856542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Endereço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4"/>
          <p:cNvSpPr/>
          <p:nvPr/>
        </p:nvSpPr>
        <p:spPr>
          <a:xfrm>
            <a:off x="2928000" y="2254621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 de Telefone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4"/>
          <p:cNvSpPr txBox="1"/>
          <p:nvPr/>
        </p:nvSpPr>
        <p:spPr>
          <a:xfrm>
            <a:off x="2928000" y="2657442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Resumo do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34"/>
          <p:cNvSpPr txBox="1"/>
          <p:nvPr/>
        </p:nvSpPr>
        <p:spPr>
          <a:xfrm>
            <a:off x="2928000" y="2954115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Produtos Selecionados: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Google Shape;463;p34"/>
          <p:cNvSpPr/>
          <p:nvPr/>
        </p:nvSpPr>
        <p:spPr>
          <a:xfrm>
            <a:off x="2956650" y="3315835"/>
            <a:ext cx="1836000" cy="771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4"/>
          <p:cNvSpPr/>
          <p:nvPr/>
        </p:nvSpPr>
        <p:spPr>
          <a:xfrm>
            <a:off x="2956775" y="3499845"/>
            <a:ext cx="18360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 x quatidade = R$ PreçoProduto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4"/>
          <p:cNvSpPr txBox="1"/>
          <p:nvPr/>
        </p:nvSpPr>
        <p:spPr>
          <a:xfrm>
            <a:off x="2864600" y="4020663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Total: PreçoProdutos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34"/>
          <p:cNvSpPr/>
          <p:nvPr/>
        </p:nvSpPr>
        <p:spPr>
          <a:xfrm>
            <a:off x="2637800" y="168089"/>
            <a:ext cx="226800" cy="1893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4"/>
          <p:cNvSpPr/>
          <p:nvPr/>
        </p:nvSpPr>
        <p:spPr>
          <a:xfrm>
            <a:off x="2979925" y="844450"/>
            <a:ext cx="1834200" cy="18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foi tão fácil </a:t>
            </a:r>
            <a:r>
              <a:rPr b="0" i="0" lang="pt-BR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Pedir Lanche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4"/>
          <p:cNvSpPr/>
          <p:nvPr/>
        </p:nvSpPr>
        <p:spPr>
          <a:xfrm>
            <a:off x="2864600" y="4514539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4"/>
          <p:cNvSpPr txBox="1"/>
          <p:nvPr/>
        </p:nvSpPr>
        <p:spPr>
          <a:xfrm>
            <a:off x="2928000" y="4219901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Observação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34"/>
          <p:cNvSpPr/>
          <p:nvPr/>
        </p:nvSpPr>
        <p:spPr>
          <a:xfrm>
            <a:off x="2452650" y="44425"/>
            <a:ext cx="2622300" cy="499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4"/>
          <p:cNvSpPr/>
          <p:nvPr/>
        </p:nvSpPr>
        <p:spPr>
          <a:xfrm>
            <a:off x="4291525" y="211413"/>
            <a:ext cx="679200" cy="48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0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 Empresa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34"/>
          <p:cNvSpPr/>
          <p:nvPr/>
        </p:nvSpPr>
        <p:spPr>
          <a:xfrm>
            <a:off x="2579250" y="1058114"/>
            <a:ext cx="2369100" cy="3763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4"/>
          <p:cNvSpPr txBox="1"/>
          <p:nvPr/>
        </p:nvSpPr>
        <p:spPr>
          <a:xfrm>
            <a:off x="2793575" y="1058114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Dados do Usuário: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p34"/>
          <p:cNvSpPr/>
          <p:nvPr/>
        </p:nvSpPr>
        <p:spPr>
          <a:xfrm>
            <a:off x="2794775" y="1458464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4"/>
          <p:cNvSpPr/>
          <p:nvPr/>
        </p:nvSpPr>
        <p:spPr>
          <a:xfrm>
            <a:off x="2794775" y="2256992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Endereço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4"/>
          <p:cNvSpPr/>
          <p:nvPr/>
        </p:nvSpPr>
        <p:spPr>
          <a:xfrm>
            <a:off x="2794775" y="1876258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 de Telefone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34"/>
          <p:cNvSpPr txBox="1"/>
          <p:nvPr/>
        </p:nvSpPr>
        <p:spPr>
          <a:xfrm>
            <a:off x="2793575" y="2657442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Resumo do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Google Shape;478;p34"/>
          <p:cNvSpPr txBox="1"/>
          <p:nvPr/>
        </p:nvSpPr>
        <p:spPr>
          <a:xfrm>
            <a:off x="2793575" y="2954115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Produtos Selecionados: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" name="Google Shape;479;p34"/>
          <p:cNvSpPr/>
          <p:nvPr/>
        </p:nvSpPr>
        <p:spPr>
          <a:xfrm>
            <a:off x="2730175" y="3315825"/>
            <a:ext cx="2092500" cy="771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34"/>
          <p:cNvSpPr/>
          <p:nvPr/>
        </p:nvSpPr>
        <p:spPr>
          <a:xfrm>
            <a:off x="2730250" y="3499850"/>
            <a:ext cx="20925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 x quatidade = R$ PreçoProduto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4"/>
          <p:cNvSpPr txBox="1"/>
          <p:nvPr/>
        </p:nvSpPr>
        <p:spPr>
          <a:xfrm>
            <a:off x="2730250" y="3785688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Total: PreçoProdutos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" name="Google Shape;482;p34"/>
          <p:cNvSpPr/>
          <p:nvPr/>
        </p:nvSpPr>
        <p:spPr>
          <a:xfrm>
            <a:off x="2503375" y="168089"/>
            <a:ext cx="226800" cy="1893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34"/>
          <p:cNvSpPr/>
          <p:nvPr/>
        </p:nvSpPr>
        <p:spPr>
          <a:xfrm>
            <a:off x="2845500" y="844450"/>
            <a:ext cx="1834200" cy="18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foi tão fácil </a:t>
            </a:r>
            <a:r>
              <a:rPr b="0" i="0" lang="pt-BR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Pedir Lanche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4"/>
          <p:cNvSpPr/>
          <p:nvPr/>
        </p:nvSpPr>
        <p:spPr>
          <a:xfrm>
            <a:off x="2657825" y="4437989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Observação: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4"/>
          <p:cNvSpPr txBox="1"/>
          <p:nvPr/>
        </p:nvSpPr>
        <p:spPr>
          <a:xfrm>
            <a:off x="2637800" y="4147089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Observação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34"/>
          <p:cNvSpPr/>
          <p:nvPr/>
        </p:nvSpPr>
        <p:spPr>
          <a:xfrm>
            <a:off x="4458600" y="3546650"/>
            <a:ext cx="226800" cy="1893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487;p34"/>
          <p:cNvCxnSpPr/>
          <p:nvPr/>
        </p:nvCxnSpPr>
        <p:spPr>
          <a:xfrm>
            <a:off x="2443175" y="3093250"/>
            <a:ext cx="371400" cy="42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8" name="Google Shape;488;p34"/>
          <p:cNvCxnSpPr>
            <a:stCxn id="472" idx="3"/>
          </p:cNvCxnSpPr>
          <p:nvPr/>
        </p:nvCxnSpPr>
        <p:spPr>
          <a:xfrm flipH="1">
            <a:off x="4630950" y="2940014"/>
            <a:ext cx="317400" cy="4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489" name="Google Shape;48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2050" y="2294049"/>
            <a:ext cx="236100" cy="23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5"/>
          <p:cNvSpPr txBox="1"/>
          <p:nvPr/>
        </p:nvSpPr>
        <p:spPr>
          <a:xfrm>
            <a:off x="-64275" y="737372"/>
            <a:ext cx="85155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5"/>
              <a:buFont typeface="Times New Roman"/>
              <a:buNone/>
            </a:pPr>
            <a:r>
              <a:rPr b="0" i="0" lang="pt-BR" sz="1415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n.8 Botão de remover pedido</a:t>
            </a:r>
            <a:endParaRPr b="0" i="0" sz="1415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5"/>
              <a:buFont typeface="Times New Roman"/>
              <a:buNone/>
            </a:pPr>
            <a:r>
              <a:t/>
            </a:r>
            <a:endParaRPr b="0" i="0" sz="1815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95" name="Google Shape;495;p35"/>
          <p:cNvCxnSpPr/>
          <p:nvPr/>
        </p:nvCxnSpPr>
        <p:spPr>
          <a:xfrm flipH="1">
            <a:off x="4113228" y="4067656"/>
            <a:ext cx="880800" cy="1893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96" name="Google Shape;496;p35"/>
          <p:cNvSpPr txBox="1"/>
          <p:nvPr/>
        </p:nvSpPr>
        <p:spPr>
          <a:xfrm>
            <a:off x="5796350" y="3160750"/>
            <a:ext cx="32595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parte de resumo do pedido mostra a quantidade, os produtos selecionados, o preço de cada item e o total do pedido, além disso, a caixa de Observação facilita a comunicação entre o estabelecimento e o cliente.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5"/>
          <p:cNvSpPr/>
          <p:nvPr/>
        </p:nvSpPr>
        <p:spPr>
          <a:xfrm>
            <a:off x="2587075" y="44425"/>
            <a:ext cx="2622300" cy="499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8" name="Google Shape;498;p35"/>
          <p:cNvCxnSpPr/>
          <p:nvPr/>
        </p:nvCxnSpPr>
        <p:spPr>
          <a:xfrm>
            <a:off x="2594425" y="798780"/>
            <a:ext cx="260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9" name="Google Shape;499;p35"/>
          <p:cNvSpPr/>
          <p:nvPr/>
        </p:nvSpPr>
        <p:spPr>
          <a:xfrm>
            <a:off x="4425950" y="211413"/>
            <a:ext cx="679200" cy="48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0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 Empresa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35"/>
          <p:cNvSpPr/>
          <p:nvPr/>
        </p:nvSpPr>
        <p:spPr>
          <a:xfrm>
            <a:off x="2713675" y="1058114"/>
            <a:ext cx="2369100" cy="3763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35"/>
          <p:cNvSpPr txBox="1"/>
          <p:nvPr/>
        </p:nvSpPr>
        <p:spPr>
          <a:xfrm>
            <a:off x="2928000" y="1058114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Dados do Usuário: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35"/>
          <p:cNvSpPr/>
          <p:nvPr/>
        </p:nvSpPr>
        <p:spPr>
          <a:xfrm>
            <a:off x="2929200" y="1458464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35"/>
          <p:cNvSpPr/>
          <p:nvPr/>
        </p:nvSpPr>
        <p:spPr>
          <a:xfrm>
            <a:off x="2928000" y="1856542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Endereço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5"/>
          <p:cNvSpPr/>
          <p:nvPr/>
        </p:nvSpPr>
        <p:spPr>
          <a:xfrm>
            <a:off x="2928000" y="2254621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 de Telefone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35"/>
          <p:cNvSpPr txBox="1"/>
          <p:nvPr/>
        </p:nvSpPr>
        <p:spPr>
          <a:xfrm>
            <a:off x="2928000" y="2657442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Resumo do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35"/>
          <p:cNvSpPr txBox="1"/>
          <p:nvPr/>
        </p:nvSpPr>
        <p:spPr>
          <a:xfrm>
            <a:off x="2928000" y="2954115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Produtos Selecionados: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35"/>
          <p:cNvSpPr/>
          <p:nvPr/>
        </p:nvSpPr>
        <p:spPr>
          <a:xfrm>
            <a:off x="2956650" y="3315835"/>
            <a:ext cx="1836000" cy="771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35"/>
          <p:cNvSpPr/>
          <p:nvPr/>
        </p:nvSpPr>
        <p:spPr>
          <a:xfrm>
            <a:off x="2956775" y="3499845"/>
            <a:ext cx="18360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 x quatidade = R$ PreçoProduto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35"/>
          <p:cNvSpPr txBox="1"/>
          <p:nvPr/>
        </p:nvSpPr>
        <p:spPr>
          <a:xfrm>
            <a:off x="2864600" y="4020663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Total: PreçoProdutos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35"/>
          <p:cNvSpPr/>
          <p:nvPr/>
        </p:nvSpPr>
        <p:spPr>
          <a:xfrm>
            <a:off x="2637800" y="168089"/>
            <a:ext cx="226800" cy="1893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5"/>
          <p:cNvSpPr/>
          <p:nvPr/>
        </p:nvSpPr>
        <p:spPr>
          <a:xfrm>
            <a:off x="2979925" y="844450"/>
            <a:ext cx="1834200" cy="18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foi tão fácil </a:t>
            </a:r>
            <a:r>
              <a:rPr b="0" i="0" lang="pt-BR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Pedir Lanche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5"/>
          <p:cNvSpPr/>
          <p:nvPr/>
        </p:nvSpPr>
        <p:spPr>
          <a:xfrm>
            <a:off x="2864600" y="4514539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5"/>
          <p:cNvSpPr txBox="1"/>
          <p:nvPr/>
        </p:nvSpPr>
        <p:spPr>
          <a:xfrm>
            <a:off x="2928000" y="4219901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Observação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35"/>
          <p:cNvSpPr/>
          <p:nvPr/>
        </p:nvSpPr>
        <p:spPr>
          <a:xfrm>
            <a:off x="2452650" y="44425"/>
            <a:ext cx="2622300" cy="499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5"/>
          <p:cNvSpPr/>
          <p:nvPr/>
        </p:nvSpPr>
        <p:spPr>
          <a:xfrm>
            <a:off x="4291525" y="211413"/>
            <a:ext cx="679200" cy="48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0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 Empresa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35"/>
          <p:cNvSpPr/>
          <p:nvPr/>
        </p:nvSpPr>
        <p:spPr>
          <a:xfrm>
            <a:off x="2579250" y="1058114"/>
            <a:ext cx="2369100" cy="3763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5"/>
          <p:cNvSpPr txBox="1"/>
          <p:nvPr/>
        </p:nvSpPr>
        <p:spPr>
          <a:xfrm>
            <a:off x="2793575" y="1058114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Dados do Usuário: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" name="Google Shape;518;p35"/>
          <p:cNvSpPr/>
          <p:nvPr/>
        </p:nvSpPr>
        <p:spPr>
          <a:xfrm>
            <a:off x="2794775" y="1458464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35"/>
          <p:cNvSpPr/>
          <p:nvPr/>
        </p:nvSpPr>
        <p:spPr>
          <a:xfrm>
            <a:off x="2794775" y="2256992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Endereço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5"/>
          <p:cNvSpPr/>
          <p:nvPr/>
        </p:nvSpPr>
        <p:spPr>
          <a:xfrm>
            <a:off x="2794775" y="1876258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 de Telefone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35"/>
          <p:cNvSpPr txBox="1"/>
          <p:nvPr/>
        </p:nvSpPr>
        <p:spPr>
          <a:xfrm>
            <a:off x="2793575" y="2657442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Resumo do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2" name="Google Shape;522;p35"/>
          <p:cNvSpPr txBox="1"/>
          <p:nvPr/>
        </p:nvSpPr>
        <p:spPr>
          <a:xfrm>
            <a:off x="2793575" y="2954115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Produtos Selecionados: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3" name="Google Shape;523;p35"/>
          <p:cNvSpPr/>
          <p:nvPr/>
        </p:nvSpPr>
        <p:spPr>
          <a:xfrm>
            <a:off x="2730175" y="3315825"/>
            <a:ext cx="2092500" cy="771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35"/>
          <p:cNvSpPr/>
          <p:nvPr/>
        </p:nvSpPr>
        <p:spPr>
          <a:xfrm>
            <a:off x="2730250" y="3499850"/>
            <a:ext cx="20925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 x quatidade = R$ PreçoProduto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35"/>
          <p:cNvSpPr txBox="1"/>
          <p:nvPr/>
        </p:nvSpPr>
        <p:spPr>
          <a:xfrm>
            <a:off x="2730250" y="3785688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Total: PreçoProdutos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" name="Google Shape;526;p35"/>
          <p:cNvSpPr/>
          <p:nvPr/>
        </p:nvSpPr>
        <p:spPr>
          <a:xfrm>
            <a:off x="2503375" y="168089"/>
            <a:ext cx="226800" cy="1893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35"/>
          <p:cNvSpPr/>
          <p:nvPr/>
        </p:nvSpPr>
        <p:spPr>
          <a:xfrm>
            <a:off x="2845500" y="844450"/>
            <a:ext cx="1834200" cy="18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foi tão fácil </a:t>
            </a:r>
            <a:r>
              <a:rPr b="0" i="0" lang="pt-BR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Pedir Lanche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5"/>
          <p:cNvSpPr/>
          <p:nvPr/>
        </p:nvSpPr>
        <p:spPr>
          <a:xfrm>
            <a:off x="2657825" y="4437989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Observação: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35"/>
          <p:cNvSpPr txBox="1"/>
          <p:nvPr/>
        </p:nvSpPr>
        <p:spPr>
          <a:xfrm>
            <a:off x="2637800" y="4147089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Observação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35"/>
          <p:cNvSpPr/>
          <p:nvPr/>
        </p:nvSpPr>
        <p:spPr>
          <a:xfrm>
            <a:off x="4458600" y="3546650"/>
            <a:ext cx="226800" cy="1893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1" name="Google Shape;531;p35"/>
          <p:cNvCxnSpPr/>
          <p:nvPr/>
        </p:nvCxnSpPr>
        <p:spPr>
          <a:xfrm>
            <a:off x="4113225" y="3041600"/>
            <a:ext cx="371400" cy="42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2" name="Google Shape;532;p35"/>
          <p:cNvCxnSpPr>
            <a:stCxn id="516" idx="3"/>
          </p:cNvCxnSpPr>
          <p:nvPr/>
        </p:nvCxnSpPr>
        <p:spPr>
          <a:xfrm flipH="1">
            <a:off x="4630950" y="2940014"/>
            <a:ext cx="317400" cy="4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533" name="Google Shape;53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2050" y="2294049"/>
            <a:ext cx="236100" cy="23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6"/>
          <p:cNvSpPr txBox="1"/>
          <p:nvPr/>
        </p:nvSpPr>
        <p:spPr>
          <a:xfrm>
            <a:off x="0" y="32897"/>
            <a:ext cx="85155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5"/>
              <a:buFont typeface="Times New Roman"/>
              <a:buNone/>
            </a:pPr>
            <a:r>
              <a:rPr b="0" i="0" lang="pt-BR" sz="1415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n.9 Forma de Pagamento</a:t>
            </a:r>
            <a:endParaRPr b="0" i="0" sz="1415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5"/>
              <a:buFont typeface="Times New Roman"/>
              <a:buNone/>
            </a:pPr>
            <a:r>
              <a:t/>
            </a:r>
            <a:endParaRPr b="0" i="0" sz="1815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9" name="Google Shape;539;p36"/>
          <p:cNvSpPr txBox="1"/>
          <p:nvPr/>
        </p:nvSpPr>
        <p:spPr>
          <a:xfrm>
            <a:off x="5796350" y="3192075"/>
            <a:ext cx="32595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cliente deve ser capaz de selecionar a Forma de pagamento desejada para finalizar o pedido.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0" name="Google Shape;540;p36"/>
          <p:cNvCxnSpPr/>
          <p:nvPr/>
        </p:nvCxnSpPr>
        <p:spPr>
          <a:xfrm>
            <a:off x="2594425" y="830105"/>
            <a:ext cx="260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1" name="Google Shape;541;p36"/>
          <p:cNvSpPr/>
          <p:nvPr/>
        </p:nvSpPr>
        <p:spPr>
          <a:xfrm>
            <a:off x="2946425" y="275000"/>
            <a:ext cx="2365500" cy="450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36"/>
          <p:cNvSpPr/>
          <p:nvPr/>
        </p:nvSpPr>
        <p:spPr>
          <a:xfrm>
            <a:off x="4605150" y="425754"/>
            <a:ext cx="612600" cy="435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0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 Empresa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36"/>
          <p:cNvSpPr/>
          <p:nvPr/>
        </p:nvSpPr>
        <p:spPr>
          <a:xfrm>
            <a:off x="3060622" y="1190143"/>
            <a:ext cx="2136900" cy="3397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36"/>
          <p:cNvSpPr/>
          <p:nvPr/>
        </p:nvSpPr>
        <p:spPr>
          <a:xfrm>
            <a:off x="3280925" y="1488050"/>
            <a:ext cx="1707900" cy="23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Endereço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36"/>
          <p:cNvSpPr/>
          <p:nvPr/>
        </p:nvSpPr>
        <p:spPr>
          <a:xfrm>
            <a:off x="3280925" y="1152781"/>
            <a:ext cx="17079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 de Telefone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36"/>
          <p:cNvSpPr txBox="1"/>
          <p:nvPr/>
        </p:nvSpPr>
        <p:spPr>
          <a:xfrm>
            <a:off x="3253950" y="1755643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Resumo do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36"/>
          <p:cNvSpPr txBox="1"/>
          <p:nvPr/>
        </p:nvSpPr>
        <p:spPr>
          <a:xfrm>
            <a:off x="3253950" y="2044262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Produtos Selecionados: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8" name="Google Shape;548;p36"/>
          <p:cNvSpPr txBox="1"/>
          <p:nvPr/>
        </p:nvSpPr>
        <p:spPr>
          <a:xfrm>
            <a:off x="3253962" y="3019301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Total: PreçoProdutos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" name="Google Shape;549;p36"/>
          <p:cNvSpPr/>
          <p:nvPr/>
        </p:nvSpPr>
        <p:spPr>
          <a:xfrm>
            <a:off x="2992181" y="386642"/>
            <a:ext cx="204600" cy="1707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36"/>
          <p:cNvSpPr/>
          <p:nvPr/>
        </p:nvSpPr>
        <p:spPr>
          <a:xfrm>
            <a:off x="3300788" y="997251"/>
            <a:ext cx="1654500" cy="17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foi tão fácil </a:t>
            </a:r>
            <a:r>
              <a:rPr b="0" i="0" lang="pt-BR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Pedir Lanche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36"/>
          <p:cNvSpPr/>
          <p:nvPr/>
        </p:nvSpPr>
        <p:spPr>
          <a:xfrm>
            <a:off x="3253912" y="3442476"/>
            <a:ext cx="17079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36"/>
          <p:cNvSpPr txBox="1"/>
          <p:nvPr/>
        </p:nvSpPr>
        <p:spPr>
          <a:xfrm>
            <a:off x="3253950" y="3182407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Observação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36"/>
          <p:cNvSpPr/>
          <p:nvPr/>
        </p:nvSpPr>
        <p:spPr>
          <a:xfrm>
            <a:off x="3279744" y="2297617"/>
            <a:ext cx="1656000" cy="696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36"/>
          <p:cNvSpPr/>
          <p:nvPr/>
        </p:nvSpPr>
        <p:spPr>
          <a:xfrm>
            <a:off x="3279856" y="2463738"/>
            <a:ext cx="16560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 x quatidade = R$ PreçoProduto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36"/>
          <p:cNvSpPr/>
          <p:nvPr/>
        </p:nvSpPr>
        <p:spPr>
          <a:xfrm>
            <a:off x="3146875" y="4282950"/>
            <a:ext cx="834900" cy="170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Adicionar item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36"/>
          <p:cNvSpPr/>
          <p:nvPr/>
        </p:nvSpPr>
        <p:spPr>
          <a:xfrm>
            <a:off x="4238000" y="4282950"/>
            <a:ext cx="912600" cy="170700"/>
          </a:xfrm>
          <a:prstGeom prst="rect">
            <a:avLst/>
          </a:prstGeom>
          <a:solidFill>
            <a:srgbClr val="FFB443"/>
          </a:solidFill>
          <a:ln cap="flat" cmpd="sng" w="9525">
            <a:solidFill>
              <a:srgbClr val="FFB4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Finalizar Pedido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36"/>
          <p:cNvSpPr txBox="1"/>
          <p:nvPr/>
        </p:nvSpPr>
        <p:spPr>
          <a:xfrm>
            <a:off x="3253950" y="3658775"/>
            <a:ext cx="116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Forma de Pagamento</a:t>
            </a:r>
            <a:endParaRPr b="0" i="0" sz="7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36"/>
          <p:cNvSpPr/>
          <p:nvPr/>
        </p:nvSpPr>
        <p:spPr>
          <a:xfrm>
            <a:off x="3196775" y="3899100"/>
            <a:ext cx="1876200" cy="17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Dinheiro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9" name="Google Shape;55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4837397" y="3923171"/>
            <a:ext cx="132326" cy="13232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560" name="Google Shape;560;p36"/>
          <p:cNvCxnSpPr/>
          <p:nvPr/>
        </p:nvCxnSpPr>
        <p:spPr>
          <a:xfrm>
            <a:off x="2300200" y="3367575"/>
            <a:ext cx="953700" cy="55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1" name="Google Shape;561;p36"/>
          <p:cNvCxnSpPr>
            <a:endCxn id="559" idx="0"/>
          </p:cNvCxnSpPr>
          <p:nvPr/>
        </p:nvCxnSpPr>
        <p:spPr>
          <a:xfrm flipH="1">
            <a:off x="4903560" y="3221771"/>
            <a:ext cx="518400" cy="70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562" name="Google Shape;56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0050" y="1507074"/>
            <a:ext cx="236100" cy="23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7"/>
          <p:cNvSpPr txBox="1"/>
          <p:nvPr/>
        </p:nvSpPr>
        <p:spPr>
          <a:xfrm>
            <a:off x="540350" y="710997"/>
            <a:ext cx="85155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5"/>
              <a:buFont typeface="Times New Roman"/>
              <a:buNone/>
            </a:pPr>
            <a:r>
              <a:rPr b="0" i="0" lang="pt-BR" sz="1415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n.10 Adicionar item</a:t>
            </a:r>
            <a:endParaRPr b="0" i="0" sz="1415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5"/>
              <a:buFont typeface="Times New Roman"/>
              <a:buNone/>
            </a:pPr>
            <a:r>
              <a:t/>
            </a:r>
            <a:endParaRPr b="0" i="0" sz="1815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8" name="Google Shape;568;p37"/>
          <p:cNvSpPr txBox="1"/>
          <p:nvPr/>
        </p:nvSpPr>
        <p:spPr>
          <a:xfrm>
            <a:off x="5796350" y="3192075"/>
            <a:ext cx="32595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cliente deve ser capaz de adicionar mais produtos ao carrinho de compras antes de finalizar o pedido.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9" name="Google Shape;569;p37"/>
          <p:cNvCxnSpPr/>
          <p:nvPr/>
        </p:nvCxnSpPr>
        <p:spPr>
          <a:xfrm>
            <a:off x="2594425" y="830105"/>
            <a:ext cx="260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0" name="Google Shape;570;p37"/>
          <p:cNvSpPr/>
          <p:nvPr/>
        </p:nvSpPr>
        <p:spPr>
          <a:xfrm>
            <a:off x="2946425" y="275000"/>
            <a:ext cx="2365500" cy="450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37"/>
          <p:cNvSpPr/>
          <p:nvPr/>
        </p:nvSpPr>
        <p:spPr>
          <a:xfrm>
            <a:off x="4605150" y="425754"/>
            <a:ext cx="612600" cy="435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0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 Empresa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7"/>
          <p:cNvSpPr/>
          <p:nvPr/>
        </p:nvSpPr>
        <p:spPr>
          <a:xfrm>
            <a:off x="3060622" y="1190143"/>
            <a:ext cx="2136900" cy="3397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7"/>
          <p:cNvSpPr/>
          <p:nvPr/>
        </p:nvSpPr>
        <p:spPr>
          <a:xfrm>
            <a:off x="3365075" y="1443189"/>
            <a:ext cx="17079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Endereço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37"/>
          <p:cNvSpPr/>
          <p:nvPr/>
        </p:nvSpPr>
        <p:spPr>
          <a:xfrm>
            <a:off x="3365075" y="1174825"/>
            <a:ext cx="1707900" cy="23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 de Telefone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37"/>
          <p:cNvSpPr txBox="1"/>
          <p:nvPr/>
        </p:nvSpPr>
        <p:spPr>
          <a:xfrm>
            <a:off x="3253950" y="1755643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Resumo do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6" name="Google Shape;576;p37"/>
          <p:cNvSpPr txBox="1"/>
          <p:nvPr/>
        </p:nvSpPr>
        <p:spPr>
          <a:xfrm>
            <a:off x="3253950" y="2044262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Produtos Selecionados: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7" name="Google Shape;577;p37"/>
          <p:cNvSpPr txBox="1"/>
          <p:nvPr/>
        </p:nvSpPr>
        <p:spPr>
          <a:xfrm>
            <a:off x="3253962" y="3019301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Total: PreçoProdutos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8" name="Google Shape;578;p37"/>
          <p:cNvSpPr/>
          <p:nvPr/>
        </p:nvSpPr>
        <p:spPr>
          <a:xfrm>
            <a:off x="2992181" y="386642"/>
            <a:ext cx="204600" cy="1707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7"/>
          <p:cNvSpPr/>
          <p:nvPr/>
        </p:nvSpPr>
        <p:spPr>
          <a:xfrm>
            <a:off x="3300788" y="997251"/>
            <a:ext cx="1654500" cy="17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foi tão fácil </a:t>
            </a:r>
            <a:r>
              <a:rPr b="0" i="0" lang="pt-BR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Pedir Lanche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37"/>
          <p:cNvSpPr/>
          <p:nvPr/>
        </p:nvSpPr>
        <p:spPr>
          <a:xfrm>
            <a:off x="3253912" y="3442476"/>
            <a:ext cx="17079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37"/>
          <p:cNvSpPr txBox="1"/>
          <p:nvPr/>
        </p:nvSpPr>
        <p:spPr>
          <a:xfrm>
            <a:off x="3253950" y="3182407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Observação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2" name="Google Shape;582;p37"/>
          <p:cNvSpPr/>
          <p:nvPr/>
        </p:nvSpPr>
        <p:spPr>
          <a:xfrm>
            <a:off x="3279744" y="2297617"/>
            <a:ext cx="1656000" cy="696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7"/>
          <p:cNvSpPr/>
          <p:nvPr/>
        </p:nvSpPr>
        <p:spPr>
          <a:xfrm>
            <a:off x="3279856" y="2463738"/>
            <a:ext cx="16560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 x quatidade = R$ PreçoProduto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7"/>
          <p:cNvSpPr/>
          <p:nvPr/>
        </p:nvSpPr>
        <p:spPr>
          <a:xfrm>
            <a:off x="3146875" y="4282950"/>
            <a:ext cx="834900" cy="170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Adicionar item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7"/>
          <p:cNvSpPr/>
          <p:nvPr/>
        </p:nvSpPr>
        <p:spPr>
          <a:xfrm>
            <a:off x="4238000" y="4282950"/>
            <a:ext cx="912600" cy="170700"/>
          </a:xfrm>
          <a:prstGeom prst="rect">
            <a:avLst/>
          </a:prstGeom>
          <a:solidFill>
            <a:srgbClr val="FFB443"/>
          </a:solidFill>
          <a:ln cap="flat" cmpd="sng" w="9525">
            <a:solidFill>
              <a:srgbClr val="FFB4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Finalizar Pedido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7"/>
          <p:cNvSpPr txBox="1"/>
          <p:nvPr/>
        </p:nvSpPr>
        <p:spPr>
          <a:xfrm>
            <a:off x="3253950" y="3658775"/>
            <a:ext cx="116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Forma de Pagamento</a:t>
            </a:r>
            <a:endParaRPr b="0" i="0" sz="7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" name="Google Shape;587;p37"/>
          <p:cNvSpPr/>
          <p:nvPr/>
        </p:nvSpPr>
        <p:spPr>
          <a:xfrm>
            <a:off x="3196775" y="3899100"/>
            <a:ext cx="1876200" cy="17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Dinheiro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8" name="Google Shape;58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4837397" y="3923171"/>
            <a:ext cx="132326" cy="13232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589" name="Google Shape;589;p37"/>
          <p:cNvCxnSpPr/>
          <p:nvPr/>
        </p:nvCxnSpPr>
        <p:spPr>
          <a:xfrm>
            <a:off x="2243075" y="3711538"/>
            <a:ext cx="953700" cy="55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0" name="Google Shape;590;p37"/>
          <p:cNvCxnSpPr/>
          <p:nvPr/>
        </p:nvCxnSpPr>
        <p:spPr>
          <a:xfrm flipH="1">
            <a:off x="3757898" y="3535871"/>
            <a:ext cx="518400" cy="70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591" name="Google Shape;59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0050" y="1507074"/>
            <a:ext cx="236100" cy="23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8"/>
          <p:cNvSpPr txBox="1"/>
          <p:nvPr/>
        </p:nvSpPr>
        <p:spPr>
          <a:xfrm>
            <a:off x="540350" y="710997"/>
            <a:ext cx="85155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5"/>
              <a:buFont typeface="Times New Roman"/>
              <a:buNone/>
            </a:pPr>
            <a:r>
              <a:rPr b="0" i="0" lang="pt-BR" sz="1415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n.10 Adicionar item</a:t>
            </a:r>
            <a:endParaRPr b="0" i="0" sz="1415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5"/>
              <a:buFont typeface="Times New Roman"/>
              <a:buNone/>
            </a:pPr>
            <a:r>
              <a:t/>
            </a:r>
            <a:endParaRPr b="0" i="0" sz="1815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7" name="Google Shape;597;p38"/>
          <p:cNvSpPr txBox="1"/>
          <p:nvPr/>
        </p:nvSpPr>
        <p:spPr>
          <a:xfrm>
            <a:off x="5796350" y="3192075"/>
            <a:ext cx="32595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cliente deve ser capaz de adicionar mais produtos ao carrinho de compras antes de finalizar o pedido.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8" name="Google Shape;598;p38"/>
          <p:cNvCxnSpPr/>
          <p:nvPr/>
        </p:nvCxnSpPr>
        <p:spPr>
          <a:xfrm>
            <a:off x="2594425" y="830105"/>
            <a:ext cx="260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9" name="Google Shape;599;p38"/>
          <p:cNvSpPr/>
          <p:nvPr/>
        </p:nvSpPr>
        <p:spPr>
          <a:xfrm>
            <a:off x="2946425" y="275000"/>
            <a:ext cx="2365500" cy="450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8"/>
          <p:cNvSpPr/>
          <p:nvPr/>
        </p:nvSpPr>
        <p:spPr>
          <a:xfrm>
            <a:off x="4605150" y="425754"/>
            <a:ext cx="612600" cy="435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0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 Empresa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8"/>
          <p:cNvSpPr/>
          <p:nvPr/>
        </p:nvSpPr>
        <p:spPr>
          <a:xfrm>
            <a:off x="3060622" y="1190143"/>
            <a:ext cx="2136900" cy="3397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8"/>
          <p:cNvSpPr/>
          <p:nvPr/>
        </p:nvSpPr>
        <p:spPr>
          <a:xfrm>
            <a:off x="3275125" y="1485031"/>
            <a:ext cx="17079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Endereço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8"/>
          <p:cNvSpPr txBox="1"/>
          <p:nvPr/>
        </p:nvSpPr>
        <p:spPr>
          <a:xfrm>
            <a:off x="3253950" y="1755643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Resumo do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4" name="Google Shape;604;p38"/>
          <p:cNvSpPr txBox="1"/>
          <p:nvPr/>
        </p:nvSpPr>
        <p:spPr>
          <a:xfrm>
            <a:off x="3253950" y="2044262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Produtos Selecionados: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5" name="Google Shape;605;p38"/>
          <p:cNvSpPr txBox="1"/>
          <p:nvPr/>
        </p:nvSpPr>
        <p:spPr>
          <a:xfrm>
            <a:off x="3253962" y="3019301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Total: PreçoProdutos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" name="Google Shape;606;p38"/>
          <p:cNvSpPr/>
          <p:nvPr/>
        </p:nvSpPr>
        <p:spPr>
          <a:xfrm>
            <a:off x="2992181" y="386642"/>
            <a:ext cx="204600" cy="1707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8"/>
          <p:cNvSpPr/>
          <p:nvPr/>
        </p:nvSpPr>
        <p:spPr>
          <a:xfrm>
            <a:off x="3300788" y="997251"/>
            <a:ext cx="1654500" cy="17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foi tão fácil </a:t>
            </a:r>
            <a:r>
              <a:rPr b="0" i="0" lang="pt-BR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Pedir Lanche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8"/>
          <p:cNvSpPr/>
          <p:nvPr/>
        </p:nvSpPr>
        <p:spPr>
          <a:xfrm>
            <a:off x="3253912" y="3442476"/>
            <a:ext cx="17079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8"/>
          <p:cNvSpPr txBox="1"/>
          <p:nvPr/>
        </p:nvSpPr>
        <p:spPr>
          <a:xfrm>
            <a:off x="3253950" y="3182407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Observação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" name="Google Shape;610;p38"/>
          <p:cNvSpPr/>
          <p:nvPr/>
        </p:nvSpPr>
        <p:spPr>
          <a:xfrm>
            <a:off x="3279744" y="2297617"/>
            <a:ext cx="1656000" cy="696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8"/>
          <p:cNvSpPr/>
          <p:nvPr/>
        </p:nvSpPr>
        <p:spPr>
          <a:xfrm>
            <a:off x="3279856" y="2463738"/>
            <a:ext cx="16560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 x quatidade = R$ PreçoProduto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8"/>
          <p:cNvSpPr/>
          <p:nvPr/>
        </p:nvSpPr>
        <p:spPr>
          <a:xfrm>
            <a:off x="3146875" y="4282950"/>
            <a:ext cx="834900" cy="170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Adicionar item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8"/>
          <p:cNvSpPr/>
          <p:nvPr/>
        </p:nvSpPr>
        <p:spPr>
          <a:xfrm>
            <a:off x="4238000" y="4282950"/>
            <a:ext cx="912600" cy="170700"/>
          </a:xfrm>
          <a:prstGeom prst="rect">
            <a:avLst/>
          </a:prstGeom>
          <a:solidFill>
            <a:srgbClr val="FFB443"/>
          </a:solidFill>
          <a:ln cap="flat" cmpd="sng" w="9525">
            <a:solidFill>
              <a:srgbClr val="FFB4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Finalizar Pedido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8"/>
          <p:cNvSpPr txBox="1"/>
          <p:nvPr/>
        </p:nvSpPr>
        <p:spPr>
          <a:xfrm>
            <a:off x="3253950" y="3658775"/>
            <a:ext cx="116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Forma de Pagamento</a:t>
            </a:r>
            <a:endParaRPr b="0" i="0" sz="7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38"/>
          <p:cNvSpPr/>
          <p:nvPr/>
        </p:nvSpPr>
        <p:spPr>
          <a:xfrm>
            <a:off x="3196775" y="3899100"/>
            <a:ext cx="1876200" cy="17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Dinheiro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6" name="Google Shape;61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4837397" y="3923171"/>
            <a:ext cx="132326" cy="13232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617" name="Google Shape;617;p38"/>
          <p:cNvCxnSpPr/>
          <p:nvPr/>
        </p:nvCxnSpPr>
        <p:spPr>
          <a:xfrm>
            <a:off x="2243075" y="3711538"/>
            <a:ext cx="953700" cy="55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8" name="Google Shape;618;p38"/>
          <p:cNvCxnSpPr/>
          <p:nvPr/>
        </p:nvCxnSpPr>
        <p:spPr>
          <a:xfrm flipH="1">
            <a:off x="3757898" y="3535871"/>
            <a:ext cx="518400" cy="70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619" name="Google Shape;61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0050" y="1507074"/>
            <a:ext cx="236100" cy="2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38"/>
          <p:cNvSpPr/>
          <p:nvPr/>
        </p:nvSpPr>
        <p:spPr>
          <a:xfrm>
            <a:off x="3253800" y="1174825"/>
            <a:ext cx="1707900" cy="23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 de Telefone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9"/>
          <p:cNvSpPr txBox="1"/>
          <p:nvPr>
            <p:ph type="ctrTitle"/>
          </p:nvPr>
        </p:nvSpPr>
        <p:spPr>
          <a:xfrm>
            <a:off x="3190125" y="314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lang="pt-BR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n.11 Botão “Finalizar pedido”</a:t>
            </a:r>
            <a:br>
              <a:rPr lang="pt-BR" sz="11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26" name="Google Shape;626;p39"/>
          <p:cNvCxnSpPr/>
          <p:nvPr/>
        </p:nvCxnSpPr>
        <p:spPr>
          <a:xfrm>
            <a:off x="513365" y="3706719"/>
            <a:ext cx="394200" cy="4650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27" name="Google Shape;627;p39"/>
          <p:cNvCxnSpPr/>
          <p:nvPr/>
        </p:nvCxnSpPr>
        <p:spPr>
          <a:xfrm>
            <a:off x="1151868" y="3675188"/>
            <a:ext cx="31500" cy="4572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28" name="Google Shape;628;p39"/>
          <p:cNvSpPr txBox="1"/>
          <p:nvPr/>
        </p:nvSpPr>
        <p:spPr>
          <a:xfrm>
            <a:off x="2993478" y="1025642"/>
            <a:ext cx="47298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cliente deve ser capaz de finalizar o pedido e notificar a empresa sobre o pedido realizado, por uma mensagem do WhatsApp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9" name="Google Shape;62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3475" y="1967050"/>
            <a:ext cx="6007850" cy="2621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0" name="Google Shape;630;p39"/>
          <p:cNvCxnSpPr/>
          <p:nvPr/>
        </p:nvCxnSpPr>
        <p:spPr>
          <a:xfrm>
            <a:off x="551275" y="707980"/>
            <a:ext cx="260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1" name="Google Shape;631;p39"/>
          <p:cNvSpPr/>
          <p:nvPr/>
        </p:nvSpPr>
        <p:spPr>
          <a:xfrm>
            <a:off x="617525" y="31450"/>
            <a:ext cx="2365500" cy="450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39"/>
          <p:cNvSpPr/>
          <p:nvPr/>
        </p:nvSpPr>
        <p:spPr>
          <a:xfrm>
            <a:off x="2276250" y="182204"/>
            <a:ext cx="612600" cy="435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0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 Empresa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39"/>
          <p:cNvSpPr/>
          <p:nvPr/>
        </p:nvSpPr>
        <p:spPr>
          <a:xfrm>
            <a:off x="731722" y="946593"/>
            <a:ext cx="2136900" cy="3397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9"/>
          <p:cNvSpPr/>
          <p:nvPr/>
        </p:nvSpPr>
        <p:spPr>
          <a:xfrm>
            <a:off x="925000" y="1208400"/>
            <a:ext cx="1707900" cy="23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Endereço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9"/>
          <p:cNvSpPr/>
          <p:nvPr/>
        </p:nvSpPr>
        <p:spPr>
          <a:xfrm>
            <a:off x="925000" y="970127"/>
            <a:ext cx="1707900" cy="17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 de Telefone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9"/>
          <p:cNvSpPr txBox="1"/>
          <p:nvPr/>
        </p:nvSpPr>
        <p:spPr>
          <a:xfrm>
            <a:off x="925050" y="1512093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Resumo do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7" name="Google Shape;637;p39"/>
          <p:cNvSpPr txBox="1"/>
          <p:nvPr/>
        </p:nvSpPr>
        <p:spPr>
          <a:xfrm>
            <a:off x="925050" y="1800712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Produtos Selecionados: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p39"/>
          <p:cNvSpPr txBox="1"/>
          <p:nvPr/>
        </p:nvSpPr>
        <p:spPr>
          <a:xfrm>
            <a:off x="925062" y="2775751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Total: PreçoProdutos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9" name="Google Shape;639;p39"/>
          <p:cNvSpPr/>
          <p:nvPr/>
        </p:nvSpPr>
        <p:spPr>
          <a:xfrm>
            <a:off x="663281" y="143092"/>
            <a:ext cx="204600" cy="1707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39"/>
          <p:cNvSpPr/>
          <p:nvPr/>
        </p:nvSpPr>
        <p:spPr>
          <a:xfrm>
            <a:off x="971888" y="753701"/>
            <a:ext cx="1654500" cy="17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foi tão fácil </a:t>
            </a:r>
            <a:r>
              <a:rPr b="0" i="0" lang="pt-BR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Pedir Lanche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39"/>
          <p:cNvSpPr/>
          <p:nvPr/>
        </p:nvSpPr>
        <p:spPr>
          <a:xfrm>
            <a:off x="925012" y="3198926"/>
            <a:ext cx="17079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39"/>
          <p:cNvSpPr txBox="1"/>
          <p:nvPr/>
        </p:nvSpPr>
        <p:spPr>
          <a:xfrm>
            <a:off x="925050" y="2938857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Observação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p39"/>
          <p:cNvSpPr/>
          <p:nvPr/>
        </p:nvSpPr>
        <p:spPr>
          <a:xfrm>
            <a:off x="950844" y="2054067"/>
            <a:ext cx="1656000" cy="696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39"/>
          <p:cNvSpPr/>
          <p:nvPr/>
        </p:nvSpPr>
        <p:spPr>
          <a:xfrm>
            <a:off x="950956" y="2220188"/>
            <a:ext cx="16560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 x quatidade = R$ PreçoProduto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39"/>
          <p:cNvSpPr/>
          <p:nvPr/>
        </p:nvSpPr>
        <p:spPr>
          <a:xfrm>
            <a:off x="817975" y="4039400"/>
            <a:ext cx="834900" cy="170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Adicionar item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39"/>
          <p:cNvSpPr/>
          <p:nvPr/>
        </p:nvSpPr>
        <p:spPr>
          <a:xfrm>
            <a:off x="1909100" y="4039400"/>
            <a:ext cx="912600" cy="170700"/>
          </a:xfrm>
          <a:prstGeom prst="rect">
            <a:avLst/>
          </a:prstGeom>
          <a:solidFill>
            <a:srgbClr val="FFB443"/>
          </a:solidFill>
          <a:ln cap="flat" cmpd="sng" w="9525">
            <a:solidFill>
              <a:srgbClr val="FFB4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Finalizar Pedido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39"/>
          <p:cNvSpPr txBox="1"/>
          <p:nvPr/>
        </p:nvSpPr>
        <p:spPr>
          <a:xfrm>
            <a:off x="925050" y="3415225"/>
            <a:ext cx="116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Forma de Pagamento</a:t>
            </a:r>
            <a:endParaRPr b="0" i="0" sz="7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39"/>
          <p:cNvSpPr/>
          <p:nvPr/>
        </p:nvSpPr>
        <p:spPr>
          <a:xfrm>
            <a:off x="867875" y="3655550"/>
            <a:ext cx="1876200" cy="17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Dinheiro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9" name="Google Shape;64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2508497" y="3679621"/>
            <a:ext cx="132326" cy="13232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650" name="Google Shape;650;p39"/>
          <p:cNvCxnSpPr/>
          <p:nvPr/>
        </p:nvCxnSpPr>
        <p:spPr>
          <a:xfrm>
            <a:off x="1261913" y="3434813"/>
            <a:ext cx="953700" cy="55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51" name="Google Shape;651;p39"/>
          <p:cNvCxnSpPr/>
          <p:nvPr/>
        </p:nvCxnSpPr>
        <p:spPr>
          <a:xfrm flipH="1">
            <a:off x="2508510" y="3283071"/>
            <a:ext cx="518400" cy="70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652" name="Google Shape;652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87850" y="1296391"/>
            <a:ext cx="132325" cy="13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0"/>
          <p:cNvSpPr txBox="1"/>
          <p:nvPr>
            <p:ph type="ctrTitle"/>
          </p:nvPr>
        </p:nvSpPr>
        <p:spPr>
          <a:xfrm>
            <a:off x="70945" y="0"/>
            <a:ext cx="9806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None/>
            </a:pPr>
            <a:r>
              <a:rPr lang="pt-BR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n.11 Caso de teste: Finalizar Pedido</a:t>
            </a: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8" name="Google Shape;658;p40"/>
          <p:cNvSpPr txBox="1"/>
          <p:nvPr>
            <p:ph idx="1" type="subTitle"/>
          </p:nvPr>
        </p:nvSpPr>
        <p:spPr>
          <a:xfrm>
            <a:off x="226629" y="1118244"/>
            <a:ext cx="3588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7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Identificação: 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Nome: Teste de finalizar pedido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ID: RN N.11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Data de criação: 05/05/2023 15:00 PM.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Autor: Pedro Marcelo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Descrição: caso de teste para finalizar o pedido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 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lang="pt-BR" sz="1100">
                <a:solidFill>
                  <a:schemeClr val="lt1"/>
                </a:solidFill>
              </a:rPr>
              <a:t> </a:t>
            </a:r>
            <a:r>
              <a:rPr b="1" lang="pt-BR" sz="1100">
                <a:solidFill>
                  <a:schemeClr val="lt1"/>
                </a:solidFill>
              </a:rPr>
              <a:t>Pré-requisitos: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1.Acesso ao cardápio da empresa selecionada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2.Ter produtos dentro do carrinho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 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Etapas de teste: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1.acesso a tela principal do cardápio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2.Selecionar a categoria desejada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3.escolher o produto e a quantidade do produto desejado a partir da lista de produtos disponíveis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4.clicar no botão “adicionar pedido”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5.Adicione informação nos campos (“Endereço, Nome e Número de telefone”)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6.clique no botão de finalizar pedido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7. clicar no botão de confirmar mensagem na tela do WhatsApp 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9" name="Google Shape;659;p40"/>
          <p:cNvSpPr txBox="1"/>
          <p:nvPr/>
        </p:nvSpPr>
        <p:spPr>
          <a:xfrm>
            <a:off x="4524703" y="1117136"/>
            <a:ext cx="3588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 Esperado: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cliente ao clicar no botão de finalizar pedido deve ser redirecionado a tela de confirmar mensagem do WhatsApp e ao clicar em enviar mensagem o cliente deve ser redirecionado ao chat do respectivo estabelecimento com as informações do pedido já inseridas na mensagem.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Critérios de sucesso: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cliente deve ser capaz de clicar no botão de finalizar pedido e ser redirecionado ao chat do respectivo estabelecimento com as informações do pedido já inseridas no chat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Notas de teste: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Durante a execução do teste, nenhum comportamento anormal ou inesperado foi detectado.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 realizado em 05/05/23 às 15:27 PM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1"/>
          <p:cNvSpPr txBox="1"/>
          <p:nvPr>
            <p:ph type="ctrTitle"/>
          </p:nvPr>
        </p:nvSpPr>
        <p:spPr>
          <a:xfrm>
            <a:off x="70945" y="0"/>
            <a:ext cx="9806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None/>
            </a:pPr>
            <a:r>
              <a:rPr lang="pt-BR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n.12 Tela de “Cadastro”</a:t>
            </a:r>
            <a:br>
              <a:rPr lang="pt-BR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5" name="Google Shape;665;p41"/>
          <p:cNvSpPr txBox="1"/>
          <p:nvPr/>
        </p:nvSpPr>
        <p:spPr>
          <a:xfrm>
            <a:off x="4807151" y="157604"/>
            <a:ext cx="2715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Tela feita para a empresa cadastrar seus dados no sistema.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41"/>
          <p:cNvSpPr/>
          <p:nvPr/>
        </p:nvSpPr>
        <p:spPr>
          <a:xfrm>
            <a:off x="116425" y="624450"/>
            <a:ext cx="4057800" cy="389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41"/>
          <p:cNvSpPr txBox="1"/>
          <p:nvPr>
            <p:ph type="ctrTitle"/>
          </p:nvPr>
        </p:nvSpPr>
        <p:spPr>
          <a:xfrm>
            <a:off x="70950" y="685050"/>
            <a:ext cx="36867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pt-BR" sz="2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Cadastre-se</a:t>
            </a:r>
            <a:br>
              <a:rPr lang="pt-BR" sz="2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8" name="Google Shape;668;p41"/>
          <p:cNvSpPr/>
          <p:nvPr/>
        </p:nvSpPr>
        <p:spPr>
          <a:xfrm>
            <a:off x="2947174" y="3368800"/>
            <a:ext cx="1017600" cy="407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Continuar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41"/>
          <p:cNvSpPr/>
          <p:nvPr/>
        </p:nvSpPr>
        <p:spPr>
          <a:xfrm>
            <a:off x="303300" y="1598681"/>
            <a:ext cx="17079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Digite o Nome da Empresa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41"/>
          <p:cNvSpPr txBox="1"/>
          <p:nvPr/>
        </p:nvSpPr>
        <p:spPr>
          <a:xfrm>
            <a:off x="303300" y="1252988"/>
            <a:ext cx="411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Nome da Empresa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1" name="Google Shape;671;p41"/>
          <p:cNvSpPr/>
          <p:nvPr/>
        </p:nvSpPr>
        <p:spPr>
          <a:xfrm>
            <a:off x="303300" y="2348781"/>
            <a:ext cx="17079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Digite Senha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41"/>
          <p:cNvSpPr txBox="1"/>
          <p:nvPr/>
        </p:nvSpPr>
        <p:spPr>
          <a:xfrm>
            <a:off x="303300" y="2003088"/>
            <a:ext cx="411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Senha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3" name="Google Shape;673;p41"/>
          <p:cNvSpPr/>
          <p:nvPr/>
        </p:nvSpPr>
        <p:spPr>
          <a:xfrm>
            <a:off x="260450" y="3281031"/>
            <a:ext cx="17079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Confirme Senha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41"/>
          <p:cNvSpPr txBox="1"/>
          <p:nvPr/>
        </p:nvSpPr>
        <p:spPr>
          <a:xfrm>
            <a:off x="260450" y="2935338"/>
            <a:ext cx="411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Confimar Senha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p41"/>
          <p:cNvSpPr/>
          <p:nvPr/>
        </p:nvSpPr>
        <p:spPr>
          <a:xfrm>
            <a:off x="2363075" y="1676081"/>
            <a:ext cx="17079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+xx (xx) xxxx-xxxx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41"/>
          <p:cNvSpPr txBox="1"/>
          <p:nvPr/>
        </p:nvSpPr>
        <p:spPr>
          <a:xfrm>
            <a:off x="2363075" y="1330388"/>
            <a:ext cx="411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Telefone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7" name="Google Shape;677;p41"/>
          <p:cNvSpPr/>
          <p:nvPr/>
        </p:nvSpPr>
        <p:spPr>
          <a:xfrm>
            <a:off x="2308300" y="2656581"/>
            <a:ext cx="17079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Digite o Cnpj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41"/>
          <p:cNvSpPr txBox="1"/>
          <p:nvPr/>
        </p:nvSpPr>
        <p:spPr>
          <a:xfrm>
            <a:off x="2308300" y="2310900"/>
            <a:ext cx="1586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Cnpj da Empresa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9" name="Google Shape;679;p41"/>
          <p:cNvSpPr/>
          <p:nvPr/>
        </p:nvSpPr>
        <p:spPr>
          <a:xfrm>
            <a:off x="4928374" y="1235200"/>
            <a:ext cx="1017600" cy="407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Continuar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41"/>
          <p:cNvSpPr/>
          <p:nvPr/>
        </p:nvSpPr>
        <p:spPr>
          <a:xfrm>
            <a:off x="6700125" y="839804"/>
            <a:ext cx="1707900" cy="1197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Envia os dados para o banco, botão de finalizar cadastro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1" name="Google Shape;681;p41"/>
          <p:cNvCxnSpPr>
            <a:stCxn id="680" idx="1"/>
            <a:endCxn id="679" idx="3"/>
          </p:cNvCxnSpPr>
          <p:nvPr/>
        </p:nvCxnSpPr>
        <p:spPr>
          <a:xfrm rot="10800000">
            <a:off x="5945925" y="1438754"/>
            <a:ext cx="754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42"/>
          <p:cNvSpPr txBox="1"/>
          <p:nvPr>
            <p:ph type="ctrTitle"/>
          </p:nvPr>
        </p:nvSpPr>
        <p:spPr>
          <a:xfrm>
            <a:off x="70945" y="0"/>
            <a:ext cx="9806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None/>
            </a:pPr>
            <a:r>
              <a:rPr lang="pt-BR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n.12 Caso de teste: Acesso a tela de cadastro</a:t>
            </a: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7" name="Google Shape;687;p42"/>
          <p:cNvSpPr txBox="1"/>
          <p:nvPr/>
        </p:nvSpPr>
        <p:spPr>
          <a:xfrm>
            <a:off x="4524703" y="1117136"/>
            <a:ext cx="3588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8" name="Google Shape;688;p42"/>
          <p:cNvSpPr txBox="1"/>
          <p:nvPr/>
        </p:nvSpPr>
        <p:spPr>
          <a:xfrm>
            <a:off x="4611177" y="1117136"/>
            <a:ext cx="3588600" cy="3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Resultado Esperado: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cliente ao clicar no botão de Confirmar será redirecionado para a tela de Login, para assim colocar os dados cadastrados e efetuar o login no cardápio como empresa.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Critérios de sucesso: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cliente deve ser capaz de clicar no botão de Confirmar e ser redirecionado para a tela de login.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Notas de teste: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Durante a execução do teste, nenhum comportamento anormal ou inesperado foi detectado.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Teste realizado em 05/05/23 as 15:37 PM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9" name="Google Shape;689;p42"/>
          <p:cNvSpPr txBox="1"/>
          <p:nvPr/>
        </p:nvSpPr>
        <p:spPr>
          <a:xfrm>
            <a:off x="340929" y="1232544"/>
            <a:ext cx="3588600" cy="3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0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Identificação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Nome: Teste de cadastro de empresa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ID: OP3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de criação: 05/05/2023 15:30 PM.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Autor: Mário César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Descrição: caso de teste para cadastro de empresa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Pré-requisitos: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1.Acesso à tela de cadastro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2.Ter os dados solicitados na tela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Etapas de teste: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1.acesso a tela de Cadastro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2.Preencha todas as informações solicitadas na tela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3.Verifique se as informações digitadas estão corretas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4.clicar no botão “Confirmar”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43"/>
          <p:cNvSpPr txBox="1"/>
          <p:nvPr/>
        </p:nvSpPr>
        <p:spPr>
          <a:xfrm>
            <a:off x="4572004" y="684103"/>
            <a:ext cx="2889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Tela designada para a empresa fazer login com os dados cadastrados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43"/>
          <p:cNvSpPr txBox="1"/>
          <p:nvPr/>
        </p:nvSpPr>
        <p:spPr>
          <a:xfrm>
            <a:off x="4572004" y="1311541"/>
            <a:ext cx="2889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Requisito: ter cadastro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43"/>
          <p:cNvSpPr txBox="1"/>
          <p:nvPr>
            <p:ph type="ctrTitle"/>
          </p:nvPr>
        </p:nvSpPr>
        <p:spPr>
          <a:xfrm>
            <a:off x="108299" y="5715"/>
            <a:ext cx="9806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None/>
            </a:pPr>
            <a:r>
              <a:rPr lang="pt-BR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n.13: tela de Login</a:t>
            </a: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7" name="Google Shape;697;p43"/>
          <p:cNvSpPr/>
          <p:nvPr/>
        </p:nvSpPr>
        <p:spPr>
          <a:xfrm>
            <a:off x="108300" y="799350"/>
            <a:ext cx="4057800" cy="389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43"/>
          <p:cNvSpPr txBox="1"/>
          <p:nvPr>
            <p:ph type="ctrTitle"/>
          </p:nvPr>
        </p:nvSpPr>
        <p:spPr>
          <a:xfrm>
            <a:off x="215475" y="1377525"/>
            <a:ext cx="36867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None/>
            </a:pPr>
            <a:r>
              <a:rPr lang="pt-BR" sz="2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Entre</a:t>
            </a:r>
            <a:endParaRPr sz="2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9" name="Google Shape;699;p43"/>
          <p:cNvSpPr/>
          <p:nvPr/>
        </p:nvSpPr>
        <p:spPr>
          <a:xfrm>
            <a:off x="2984524" y="3525950"/>
            <a:ext cx="1017600" cy="407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Continuar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3"/>
          <p:cNvSpPr/>
          <p:nvPr/>
        </p:nvSpPr>
        <p:spPr>
          <a:xfrm>
            <a:off x="340650" y="2381706"/>
            <a:ext cx="17079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Digite o Nome da Empresa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43"/>
          <p:cNvSpPr txBox="1"/>
          <p:nvPr/>
        </p:nvSpPr>
        <p:spPr>
          <a:xfrm>
            <a:off x="340650" y="2036013"/>
            <a:ext cx="411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Nome da Empresa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2" name="Google Shape;702;p43"/>
          <p:cNvSpPr/>
          <p:nvPr/>
        </p:nvSpPr>
        <p:spPr>
          <a:xfrm>
            <a:off x="2348050" y="2381706"/>
            <a:ext cx="17079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Digite Senha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43"/>
          <p:cNvSpPr txBox="1"/>
          <p:nvPr/>
        </p:nvSpPr>
        <p:spPr>
          <a:xfrm>
            <a:off x="2348050" y="2036025"/>
            <a:ext cx="150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Senha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4" name="Google Shape;704;p43"/>
          <p:cNvSpPr/>
          <p:nvPr/>
        </p:nvSpPr>
        <p:spPr>
          <a:xfrm>
            <a:off x="290650" y="3487100"/>
            <a:ext cx="1216800" cy="407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Cadastre-se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43"/>
          <p:cNvSpPr/>
          <p:nvPr/>
        </p:nvSpPr>
        <p:spPr>
          <a:xfrm>
            <a:off x="4455449" y="2318250"/>
            <a:ext cx="1017600" cy="407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Continuar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43"/>
          <p:cNvSpPr/>
          <p:nvPr/>
        </p:nvSpPr>
        <p:spPr>
          <a:xfrm>
            <a:off x="4455450" y="3525950"/>
            <a:ext cx="1216800" cy="407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Cadastre-se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43"/>
          <p:cNvSpPr/>
          <p:nvPr/>
        </p:nvSpPr>
        <p:spPr>
          <a:xfrm>
            <a:off x="6523450" y="1972804"/>
            <a:ext cx="1707900" cy="1197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Valida as informações dos dados inseridos e se for igual ao cadastro  redireciona para a tela.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8" name="Google Shape;708;p43"/>
          <p:cNvCxnSpPr>
            <a:stCxn id="707" idx="1"/>
            <a:endCxn id="705" idx="3"/>
          </p:cNvCxnSpPr>
          <p:nvPr/>
        </p:nvCxnSpPr>
        <p:spPr>
          <a:xfrm rot="10800000">
            <a:off x="5473150" y="2521654"/>
            <a:ext cx="1050300" cy="50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9" name="Google Shape;709;p43"/>
          <p:cNvSpPr/>
          <p:nvPr/>
        </p:nvSpPr>
        <p:spPr>
          <a:xfrm>
            <a:off x="6523450" y="3293579"/>
            <a:ext cx="1707900" cy="1197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Botão que redireciona para a tela de cadastro.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0" name="Google Shape;710;p43"/>
          <p:cNvCxnSpPr>
            <a:stCxn id="709" idx="1"/>
            <a:endCxn id="706" idx="3"/>
          </p:cNvCxnSpPr>
          <p:nvPr/>
        </p:nvCxnSpPr>
        <p:spPr>
          <a:xfrm rot="10800000">
            <a:off x="5672350" y="3729629"/>
            <a:ext cx="851100" cy="162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4"/>
          <p:cNvSpPr txBox="1"/>
          <p:nvPr>
            <p:ph type="ctrTitle"/>
          </p:nvPr>
        </p:nvSpPr>
        <p:spPr>
          <a:xfrm>
            <a:off x="70945" y="0"/>
            <a:ext cx="9806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None/>
            </a:pPr>
            <a:r>
              <a:rPr lang="pt-BR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n.13 Caso de teste: Acesso a tela de cadastro</a:t>
            </a: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6" name="Google Shape;716;p44"/>
          <p:cNvSpPr txBox="1"/>
          <p:nvPr/>
        </p:nvSpPr>
        <p:spPr>
          <a:xfrm>
            <a:off x="4524703" y="1117136"/>
            <a:ext cx="3588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7" name="Google Shape;717;p44"/>
          <p:cNvSpPr txBox="1"/>
          <p:nvPr/>
        </p:nvSpPr>
        <p:spPr>
          <a:xfrm>
            <a:off x="4611177" y="1117136"/>
            <a:ext cx="3588600" cy="3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Resultado Esperado: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cliente ao clicar no botão continuar será redirecionado para a tela de adicionar categorias no cardápio.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Critérios de sucesso: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cliente deve ser capaz de clicar no botão de confirmar e ser redirecionado para a tela de gerenciamento de categorias.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Notas de teste: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Durante a execução do teste, nenhum comportamento anormal ou inesperado foi detectado.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Teste realizado em 05/05/23 as 15:45 PM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8" name="Google Shape;718;p44"/>
          <p:cNvSpPr txBox="1"/>
          <p:nvPr/>
        </p:nvSpPr>
        <p:spPr>
          <a:xfrm>
            <a:off x="340929" y="1232544"/>
            <a:ext cx="3588600" cy="3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7500" lnSpcReduction="10000"/>
          </a:bodyPr>
          <a:lstStyle/>
          <a:p>
            <a:pPr indent="-152272" lvl="0" marL="177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Identificação: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27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Nome: Teste de Login de empresa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27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ID: OP4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27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de criação: 05/05/2023 15:38 PM.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27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Autor: Mário César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27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Descrição: caso de teste para login da empresa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27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27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Pré-requisitos: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27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1.Acesso à tela de Login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27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2.Ter se cadastrado no sistema do cardápio anteriormente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27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3.Ter acesso aos dados de cadastro da empresa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27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27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Etapas de teste: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27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1.acesso a tela de Login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27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2.Digitar as informações solicitadas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27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3.clicar no botão “Continuar”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45"/>
          <p:cNvSpPr txBox="1"/>
          <p:nvPr>
            <p:ph type="ctrTitle"/>
          </p:nvPr>
        </p:nvSpPr>
        <p:spPr>
          <a:xfrm>
            <a:off x="70950" y="-88100"/>
            <a:ext cx="92445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None/>
            </a:pPr>
            <a:r>
              <a:rPr lang="pt-BR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n.14 gerenciamento de produtos</a:t>
            </a: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4" name="Google Shape;724;p45"/>
          <p:cNvSpPr txBox="1"/>
          <p:nvPr/>
        </p:nvSpPr>
        <p:spPr>
          <a:xfrm>
            <a:off x="129854" y="647607"/>
            <a:ext cx="26205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Tela feita para a empresa: criar produtos, excluir, editar produtos criados.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45"/>
          <p:cNvSpPr/>
          <p:nvPr/>
        </p:nvSpPr>
        <p:spPr>
          <a:xfrm>
            <a:off x="59139" y="1562003"/>
            <a:ext cx="5962800" cy="340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45"/>
          <p:cNvSpPr/>
          <p:nvPr/>
        </p:nvSpPr>
        <p:spPr>
          <a:xfrm>
            <a:off x="127993" y="2390110"/>
            <a:ext cx="2367900" cy="363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 Empresa - Produtos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5"/>
          <p:cNvSpPr/>
          <p:nvPr/>
        </p:nvSpPr>
        <p:spPr>
          <a:xfrm>
            <a:off x="116210" y="2865510"/>
            <a:ext cx="900600" cy="171900"/>
          </a:xfrm>
          <a:prstGeom prst="rect">
            <a:avLst/>
          </a:prstGeom>
          <a:solidFill>
            <a:srgbClr val="0D6E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Novo Produto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45"/>
          <p:cNvSpPr/>
          <p:nvPr/>
        </p:nvSpPr>
        <p:spPr>
          <a:xfrm>
            <a:off x="116190" y="3103347"/>
            <a:ext cx="1107300" cy="20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ProdutoID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5"/>
          <p:cNvSpPr/>
          <p:nvPr/>
        </p:nvSpPr>
        <p:spPr>
          <a:xfrm>
            <a:off x="834550" y="3103347"/>
            <a:ext cx="1107300" cy="20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45"/>
          <p:cNvSpPr/>
          <p:nvPr/>
        </p:nvSpPr>
        <p:spPr>
          <a:xfrm>
            <a:off x="1983926" y="3103347"/>
            <a:ext cx="1107300" cy="20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45"/>
          <p:cNvSpPr/>
          <p:nvPr/>
        </p:nvSpPr>
        <p:spPr>
          <a:xfrm>
            <a:off x="2814519" y="3102109"/>
            <a:ext cx="1107300" cy="20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NutriçãoProduto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45"/>
          <p:cNvSpPr/>
          <p:nvPr/>
        </p:nvSpPr>
        <p:spPr>
          <a:xfrm>
            <a:off x="3922084" y="3103347"/>
            <a:ext cx="1107300" cy="20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PreçoProduto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3" name="Google Shape;733;p45"/>
          <p:cNvCxnSpPr/>
          <p:nvPr/>
        </p:nvCxnSpPr>
        <p:spPr>
          <a:xfrm>
            <a:off x="128000" y="3381441"/>
            <a:ext cx="566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4" name="Google Shape;734;p45"/>
          <p:cNvSpPr/>
          <p:nvPr/>
        </p:nvSpPr>
        <p:spPr>
          <a:xfrm>
            <a:off x="128000" y="3364545"/>
            <a:ext cx="5777700" cy="6507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45"/>
          <p:cNvSpPr/>
          <p:nvPr/>
        </p:nvSpPr>
        <p:spPr>
          <a:xfrm>
            <a:off x="122099" y="4163670"/>
            <a:ext cx="5777700" cy="65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45"/>
          <p:cNvSpPr/>
          <p:nvPr/>
        </p:nvSpPr>
        <p:spPr>
          <a:xfrm>
            <a:off x="188004" y="3637660"/>
            <a:ext cx="653700" cy="291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ProdutoID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45"/>
          <p:cNvSpPr/>
          <p:nvPr/>
        </p:nvSpPr>
        <p:spPr>
          <a:xfrm>
            <a:off x="841598" y="3637660"/>
            <a:ext cx="1257000" cy="291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45"/>
          <p:cNvSpPr/>
          <p:nvPr/>
        </p:nvSpPr>
        <p:spPr>
          <a:xfrm>
            <a:off x="1850460" y="3637660"/>
            <a:ext cx="1257000" cy="291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DescriçãoProduto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45"/>
          <p:cNvSpPr/>
          <p:nvPr/>
        </p:nvSpPr>
        <p:spPr>
          <a:xfrm>
            <a:off x="2814519" y="3637660"/>
            <a:ext cx="1257000" cy="291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NutriçãoProduto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45"/>
          <p:cNvSpPr/>
          <p:nvPr/>
        </p:nvSpPr>
        <p:spPr>
          <a:xfrm>
            <a:off x="3820223" y="3637660"/>
            <a:ext cx="938100" cy="291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PrecoProduto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45"/>
          <p:cNvSpPr/>
          <p:nvPr/>
        </p:nvSpPr>
        <p:spPr>
          <a:xfrm>
            <a:off x="4692173" y="3626765"/>
            <a:ext cx="483300" cy="291600"/>
          </a:xfrm>
          <a:prstGeom prst="rect">
            <a:avLst/>
          </a:prstGeom>
          <a:solidFill>
            <a:srgbClr val="FFA31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Editar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45"/>
          <p:cNvSpPr/>
          <p:nvPr/>
        </p:nvSpPr>
        <p:spPr>
          <a:xfrm>
            <a:off x="5240661" y="3626452"/>
            <a:ext cx="580800" cy="291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Excluir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45"/>
          <p:cNvSpPr/>
          <p:nvPr/>
        </p:nvSpPr>
        <p:spPr>
          <a:xfrm>
            <a:off x="182104" y="4272571"/>
            <a:ext cx="653700" cy="29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ProdutoID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45"/>
          <p:cNvSpPr/>
          <p:nvPr/>
        </p:nvSpPr>
        <p:spPr>
          <a:xfrm>
            <a:off x="835698" y="4272571"/>
            <a:ext cx="1257000" cy="29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45"/>
          <p:cNvSpPr/>
          <p:nvPr/>
        </p:nvSpPr>
        <p:spPr>
          <a:xfrm>
            <a:off x="1844560" y="4272571"/>
            <a:ext cx="1257000" cy="29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DescriçãoProduto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45"/>
          <p:cNvSpPr/>
          <p:nvPr/>
        </p:nvSpPr>
        <p:spPr>
          <a:xfrm>
            <a:off x="2808619" y="4272571"/>
            <a:ext cx="1257000" cy="29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NutriçãoProduto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45"/>
          <p:cNvSpPr/>
          <p:nvPr/>
        </p:nvSpPr>
        <p:spPr>
          <a:xfrm>
            <a:off x="3814323" y="4272571"/>
            <a:ext cx="938100" cy="29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PrecoProduto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45"/>
          <p:cNvSpPr/>
          <p:nvPr/>
        </p:nvSpPr>
        <p:spPr>
          <a:xfrm>
            <a:off x="4692173" y="4261363"/>
            <a:ext cx="483300" cy="291600"/>
          </a:xfrm>
          <a:prstGeom prst="rect">
            <a:avLst/>
          </a:prstGeom>
          <a:solidFill>
            <a:srgbClr val="FFA31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Editar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45"/>
          <p:cNvSpPr/>
          <p:nvPr/>
        </p:nvSpPr>
        <p:spPr>
          <a:xfrm>
            <a:off x="5234761" y="4261363"/>
            <a:ext cx="580800" cy="291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Excluir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45"/>
          <p:cNvSpPr/>
          <p:nvPr/>
        </p:nvSpPr>
        <p:spPr>
          <a:xfrm>
            <a:off x="59100" y="1560550"/>
            <a:ext cx="5962800" cy="576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Cardápio Empresa Produtos Categorias Logout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45"/>
          <p:cNvSpPr/>
          <p:nvPr/>
        </p:nvSpPr>
        <p:spPr>
          <a:xfrm>
            <a:off x="6063850" y="2712375"/>
            <a:ext cx="559500" cy="291600"/>
          </a:xfrm>
          <a:prstGeom prst="rect">
            <a:avLst/>
          </a:prstGeom>
          <a:solidFill>
            <a:srgbClr val="FFA31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Editar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45"/>
          <p:cNvSpPr txBox="1"/>
          <p:nvPr/>
        </p:nvSpPr>
        <p:spPr>
          <a:xfrm>
            <a:off x="7150025" y="2418375"/>
            <a:ext cx="1266300" cy="923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Botão que leva para a tela de edição de produto, que permite mudar as informações dos produtos desejados</a:t>
            </a:r>
            <a:endParaRPr b="0" i="0" sz="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3" name="Google Shape;753;p45"/>
          <p:cNvCxnSpPr>
            <a:stCxn id="752" idx="1"/>
            <a:endCxn id="751" idx="3"/>
          </p:cNvCxnSpPr>
          <p:nvPr/>
        </p:nvCxnSpPr>
        <p:spPr>
          <a:xfrm rot="10800000">
            <a:off x="6623225" y="2858175"/>
            <a:ext cx="526800" cy="21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4" name="Google Shape;754;p45"/>
          <p:cNvSpPr/>
          <p:nvPr/>
        </p:nvSpPr>
        <p:spPr>
          <a:xfrm>
            <a:off x="6044350" y="3770175"/>
            <a:ext cx="580800" cy="291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Excluir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45"/>
          <p:cNvSpPr txBox="1"/>
          <p:nvPr/>
        </p:nvSpPr>
        <p:spPr>
          <a:xfrm>
            <a:off x="7150025" y="3605925"/>
            <a:ext cx="1266300" cy="55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Botão feito para exclusão do produto selecionado</a:t>
            </a:r>
            <a:endParaRPr b="0" i="0" sz="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6" name="Google Shape;756;p45"/>
          <p:cNvCxnSpPr>
            <a:stCxn id="755" idx="1"/>
            <a:endCxn id="754" idx="3"/>
          </p:cNvCxnSpPr>
          <p:nvPr/>
        </p:nvCxnSpPr>
        <p:spPr>
          <a:xfrm flipH="1">
            <a:off x="6625025" y="3882975"/>
            <a:ext cx="525000" cy="33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7" name="Google Shape;757;p45"/>
          <p:cNvSpPr txBox="1"/>
          <p:nvPr/>
        </p:nvSpPr>
        <p:spPr>
          <a:xfrm>
            <a:off x="7150025" y="1463050"/>
            <a:ext cx="1266300" cy="800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Botão que leva a empresa para a tela de criação de produto onde ela pode criar novos produtos </a:t>
            </a:r>
            <a:endParaRPr b="0" i="0" sz="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8" name="Google Shape;758;p45"/>
          <p:cNvCxnSpPr>
            <a:stCxn id="757" idx="1"/>
            <a:endCxn id="759" idx="3"/>
          </p:cNvCxnSpPr>
          <p:nvPr/>
        </p:nvCxnSpPr>
        <p:spPr>
          <a:xfrm rot="10800000">
            <a:off x="6944825" y="1860250"/>
            <a:ext cx="205200" cy="3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9" name="Google Shape;759;p45"/>
          <p:cNvSpPr/>
          <p:nvPr/>
        </p:nvSpPr>
        <p:spPr>
          <a:xfrm>
            <a:off x="6044360" y="1774285"/>
            <a:ext cx="900600" cy="171900"/>
          </a:xfrm>
          <a:prstGeom prst="rect">
            <a:avLst/>
          </a:prstGeom>
          <a:solidFill>
            <a:srgbClr val="0D6E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Novo Produto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6"/>
          <p:cNvSpPr txBox="1"/>
          <p:nvPr>
            <p:ph type="ctrTitle"/>
          </p:nvPr>
        </p:nvSpPr>
        <p:spPr>
          <a:xfrm>
            <a:off x="70950" y="-88100"/>
            <a:ext cx="92445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None/>
            </a:pPr>
            <a:r>
              <a:rPr lang="pt-BR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n.14 gerenciamento de produtos</a:t>
            </a: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5" name="Google Shape;765;p46"/>
          <p:cNvSpPr txBox="1"/>
          <p:nvPr/>
        </p:nvSpPr>
        <p:spPr>
          <a:xfrm>
            <a:off x="6290354" y="124607"/>
            <a:ext cx="26205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Tela feita para a empresa: criar produtos, excluir, editar produtos criados.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46"/>
          <p:cNvSpPr/>
          <p:nvPr/>
        </p:nvSpPr>
        <p:spPr>
          <a:xfrm>
            <a:off x="70950" y="923475"/>
            <a:ext cx="4944000" cy="6642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Cardápio Empresa Produtos Categorias Logout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46"/>
          <p:cNvSpPr/>
          <p:nvPr/>
        </p:nvSpPr>
        <p:spPr>
          <a:xfrm>
            <a:off x="90300" y="1477950"/>
            <a:ext cx="4924500" cy="316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46"/>
          <p:cNvSpPr/>
          <p:nvPr/>
        </p:nvSpPr>
        <p:spPr>
          <a:xfrm>
            <a:off x="70950" y="1477950"/>
            <a:ext cx="26574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Atualizar Produto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46"/>
          <p:cNvSpPr/>
          <p:nvPr/>
        </p:nvSpPr>
        <p:spPr>
          <a:xfrm>
            <a:off x="70950" y="1634344"/>
            <a:ext cx="26574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Código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46"/>
          <p:cNvSpPr/>
          <p:nvPr/>
        </p:nvSpPr>
        <p:spPr>
          <a:xfrm>
            <a:off x="119287" y="1851257"/>
            <a:ext cx="2368500" cy="21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proID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46"/>
          <p:cNvSpPr/>
          <p:nvPr/>
        </p:nvSpPr>
        <p:spPr>
          <a:xfrm>
            <a:off x="70950" y="1979436"/>
            <a:ext cx="26574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46"/>
          <p:cNvSpPr/>
          <p:nvPr/>
        </p:nvSpPr>
        <p:spPr>
          <a:xfrm>
            <a:off x="119287" y="2196349"/>
            <a:ext cx="2368500" cy="21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46"/>
          <p:cNvSpPr/>
          <p:nvPr/>
        </p:nvSpPr>
        <p:spPr>
          <a:xfrm>
            <a:off x="70950" y="2324525"/>
            <a:ext cx="14136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 do produto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46"/>
          <p:cNvSpPr/>
          <p:nvPr/>
        </p:nvSpPr>
        <p:spPr>
          <a:xfrm>
            <a:off x="119287" y="2541442"/>
            <a:ext cx="2368500" cy="21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DescricaoProduto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46"/>
          <p:cNvSpPr/>
          <p:nvPr/>
        </p:nvSpPr>
        <p:spPr>
          <a:xfrm>
            <a:off x="70950" y="2664000"/>
            <a:ext cx="20097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NutricaoProuto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46"/>
          <p:cNvSpPr/>
          <p:nvPr/>
        </p:nvSpPr>
        <p:spPr>
          <a:xfrm>
            <a:off x="119287" y="2880919"/>
            <a:ext cx="2368500" cy="21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NutricaoProduto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46"/>
          <p:cNvSpPr/>
          <p:nvPr/>
        </p:nvSpPr>
        <p:spPr>
          <a:xfrm>
            <a:off x="70950" y="3003475"/>
            <a:ext cx="7239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46"/>
          <p:cNvSpPr/>
          <p:nvPr/>
        </p:nvSpPr>
        <p:spPr>
          <a:xfrm>
            <a:off x="119287" y="3220396"/>
            <a:ext cx="2368500" cy="21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ProcoProduto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46"/>
          <p:cNvSpPr/>
          <p:nvPr/>
        </p:nvSpPr>
        <p:spPr>
          <a:xfrm>
            <a:off x="70950" y="3559875"/>
            <a:ext cx="24168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Escolha uma categoria: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46"/>
          <p:cNvSpPr/>
          <p:nvPr/>
        </p:nvSpPr>
        <p:spPr>
          <a:xfrm>
            <a:off x="1580950" y="3659500"/>
            <a:ext cx="1224600" cy="12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NomeCategoria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46"/>
          <p:cNvSpPr/>
          <p:nvPr/>
        </p:nvSpPr>
        <p:spPr>
          <a:xfrm>
            <a:off x="259950" y="4244450"/>
            <a:ext cx="663600" cy="25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Voltar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46"/>
          <p:cNvSpPr/>
          <p:nvPr/>
        </p:nvSpPr>
        <p:spPr>
          <a:xfrm>
            <a:off x="1125425" y="4244450"/>
            <a:ext cx="885300" cy="251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submit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46"/>
          <p:cNvSpPr/>
          <p:nvPr/>
        </p:nvSpPr>
        <p:spPr>
          <a:xfrm>
            <a:off x="5088675" y="1226550"/>
            <a:ext cx="885300" cy="251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submit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46"/>
          <p:cNvSpPr/>
          <p:nvPr/>
        </p:nvSpPr>
        <p:spPr>
          <a:xfrm>
            <a:off x="5199525" y="2757750"/>
            <a:ext cx="663600" cy="25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Voltar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46"/>
          <p:cNvSpPr txBox="1"/>
          <p:nvPr/>
        </p:nvSpPr>
        <p:spPr>
          <a:xfrm>
            <a:off x="6498975" y="978525"/>
            <a:ext cx="1266300" cy="55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Manda os dados para o banco, substituindo dos dados antigos</a:t>
            </a:r>
            <a:endParaRPr b="0" i="0" sz="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6" name="Google Shape;786;p46"/>
          <p:cNvCxnSpPr>
            <a:stCxn id="785" idx="1"/>
          </p:cNvCxnSpPr>
          <p:nvPr/>
        </p:nvCxnSpPr>
        <p:spPr>
          <a:xfrm flipH="1">
            <a:off x="5973975" y="1255575"/>
            <a:ext cx="525000" cy="33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7" name="Google Shape;787;p46"/>
          <p:cNvSpPr txBox="1"/>
          <p:nvPr/>
        </p:nvSpPr>
        <p:spPr>
          <a:xfrm>
            <a:off x="6388125" y="2729550"/>
            <a:ext cx="1266300" cy="307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Volta para tela de CRU</a:t>
            </a:r>
            <a:endParaRPr b="0" i="0" sz="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8" name="Google Shape;788;p46"/>
          <p:cNvCxnSpPr>
            <a:stCxn id="787" idx="1"/>
          </p:cNvCxnSpPr>
          <p:nvPr/>
        </p:nvCxnSpPr>
        <p:spPr>
          <a:xfrm flipH="1">
            <a:off x="5863125" y="2883450"/>
            <a:ext cx="525000" cy="33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47"/>
          <p:cNvSpPr txBox="1"/>
          <p:nvPr>
            <p:ph type="ctrTitle"/>
          </p:nvPr>
        </p:nvSpPr>
        <p:spPr>
          <a:xfrm>
            <a:off x="70945" y="0"/>
            <a:ext cx="9806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None/>
            </a:pPr>
            <a:r>
              <a:rPr lang="pt-BR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n.14 Caso de teste: Gerenciamento de Produtos</a:t>
            </a: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4" name="Google Shape;794;p47"/>
          <p:cNvSpPr txBox="1"/>
          <p:nvPr/>
        </p:nvSpPr>
        <p:spPr>
          <a:xfrm>
            <a:off x="4524703" y="1117136"/>
            <a:ext cx="3588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5" name="Google Shape;795;p47"/>
          <p:cNvSpPr txBox="1"/>
          <p:nvPr/>
        </p:nvSpPr>
        <p:spPr>
          <a:xfrm>
            <a:off x="4611177" y="1117136"/>
            <a:ext cx="3588600" cy="3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77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6" name="Google Shape;796;p47"/>
          <p:cNvSpPr txBox="1"/>
          <p:nvPr/>
        </p:nvSpPr>
        <p:spPr>
          <a:xfrm>
            <a:off x="340929" y="1232544"/>
            <a:ext cx="3588600" cy="3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7" name="Google Shape;797;p47"/>
          <p:cNvSpPr/>
          <p:nvPr/>
        </p:nvSpPr>
        <p:spPr>
          <a:xfrm>
            <a:off x="222057" y="1381206"/>
            <a:ext cx="4572000" cy="27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Identificação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Nome: Teste de gerenciamento de produtos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ID: OP6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de criação: 05/05/2023 16:08 PM.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Autor: Pedro Marcelo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Descrição: caso de teste para remover, adicionar e editar produtos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Pré-requisitos: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1.Ter uma conta logada no sistema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2.Acesso a tela de gerenciamento de produtos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Etapas de teste: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1.acesso a tela principal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2.Selecionar uma das opções disponíveis (“Nova”, “Deletar”, “Editar”)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3.Caso tenha clicado no botão “Nova”: Coloque as informações solicitadas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4.Clique no botão “Salvar” para adicionar uma nova categoria, ou, no botão “Voltar” para retornar a tela de gerenciamento de categorias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5.Caso tenha clicado no botão “Editar”: Altere a informação que deseja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6.clique no botão de Submit para salvar as alterações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7.Caso tenha clicado no botão “Deletar”: estará deletando automaticamente o produto do seu cardápio tenha cuidado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47"/>
          <p:cNvSpPr/>
          <p:nvPr/>
        </p:nvSpPr>
        <p:spPr>
          <a:xfrm>
            <a:off x="5519034" y="1317727"/>
            <a:ext cx="3276000" cy="18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Resultado Esperado: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cliente ao clicar na função “nova” deve ser redirecionado para tela de adicionar novo produto, ao clicar na função “deletar” ele deletara o produto selecionada e ao clicar na função editar ele irá para tela de editar produto.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Critérios de sucesso: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cliente deve ser capaz de adicionar, deletar e editar todas os produtos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Notas de teste: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Durante a execução do teste, nenhum comportamento anormal ou inesperado foi detectado.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Teste realizado em 05/05/23 as 16:13 PM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48"/>
          <p:cNvSpPr/>
          <p:nvPr/>
        </p:nvSpPr>
        <p:spPr>
          <a:xfrm>
            <a:off x="241600" y="1047103"/>
            <a:ext cx="6310800" cy="389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48"/>
          <p:cNvSpPr/>
          <p:nvPr/>
        </p:nvSpPr>
        <p:spPr>
          <a:xfrm>
            <a:off x="1390045" y="2032564"/>
            <a:ext cx="3841800" cy="292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48"/>
          <p:cNvSpPr/>
          <p:nvPr/>
        </p:nvSpPr>
        <p:spPr>
          <a:xfrm>
            <a:off x="1535541" y="3102285"/>
            <a:ext cx="3550800" cy="225600"/>
          </a:xfrm>
          <a:prstGeom prst="rect">
            <a:avLst/>
          </a:prstGeom>
          <a:solidFill>
            <a:srgbClr val="E4E4E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Nomempresa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48"/>
          <p:cNvSpPr/>
          <p:nvPr/>
        </p:nvSpPr>
        <p:spPr>
          <a:xfrm>
            <a:off x="1535541" y="3493585"/>
            <a:ext cx="3550800" cy="225600"/>
          </a:xfrm>
          <a:prstGeom prst="rect">
            <a:avLst/>
          </a:prstGeom>
          <a:solidFill>
            <a:srgbClr val="E4E4E4"/>
          </a:solidFill>
          <a:ln cap="flat" cmpd="sng" w="9525">
            <a:solidFill>
              <a:srgbClr val="20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TelefoneEmpresa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48"/>
          <p:cNvSpPr/>
          <p:nvPr/>
        </p:nvSpPr>
        <p:spPr>
          <a:xfrm>
            <a:off x="1535541" y="3884884"/>
            <a:ext cx="3550800" cy="225600"/>
          </a:xfrm>
          <a:prstGeom prst="rect">
            <a:avLst/>
          </a:prstGeom>
          <a:solidFill>
            <a:srgbClr val="E4E4E4"/>
          </a:solidFill>
          <a:ln cap="flat" cmpd="sng" w="9525">
            <a:solidFill>
              <a:srgbClr val="20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Cnpj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48"/>
          <p:cNvSpPr/>
          <p:nvPr/>
        </p:nvSpPr>
        <p:spPr>
          <a:xfrm>
            <a:off x="1535541" y="4276184"/>
            <a:ext cx="3550800" cy="225600"/>
          </a:xfrm>
          <a:prstGeom prst="rect">
            <a:avLst/>
          </a:prstGeom>
          <a:solidFill>
            <a:srgbClr val="E4E4E4"/>
          </a:solidFill>
          <a:ln cap="flat" cmpd="sng" w="9525">
            <a:solidFill>
              <a:srgbClr val="20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SenhaEmpresa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48"/>
          <p:cNvSpPr/>
          <p:nvPr/>
        </p:nvSpPr>
        <p:spPr>
          <a:xfrm>
            <a:off x="1535541" y="4667484"/>
            <a:ext cx="3550800" cy="225600"/>
          </a:xfrm>
          <a:prstGeom prst="rect">
            <a:avLst/>
          </a:prstGeom>
          <a:solidFill>
            <a:srgbClr val="E4E4E4"/>
          </a:solidFill>
          <a:ln cap="flat" cmpd="sng" w="9525">
            <a:solidFill>
              <a:srgbClr val="20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taxaempresa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48"/>
          <p:cNvSpPr/>
          <p:nvPr/>
        </p:nvSpPr>
        <p:spPr>
          <a:xfrm>
            <a:off x="1535541" y="2940543"/>
            <a:ext cx="571200" cy="11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48"/>
          <p:cNvSpPr/>
          <p:nvPr/>
        </p:nvSpPr>
        <p:spPr>
          <a:xfrm>
            <a:off x="1535541" y="3331843"/>
            <a:ext cx="571200" cy="11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Telefone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48"/>
          <p:cNvSpPr/>
          <p:nvPr/>
        </p:nvSpPr>
        <p:spPr>
          <a:xfrm>
            <a:off x="1535541" y="3723143"/>
            <a:ext cx="571200" cy="11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Cnpj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48"/>
          <p:cNvSpPr/>
          <p:nvPr/>
        </p:nvSpPr>
        <p:spPr>
          <a:xfrm>
            <a:off x="1535541" y="4114442"/>
            <a:ext cx="571200" cy="11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Senha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48"/>
          <p:cNvSpPr/>
          <p:nvPr/>
        </p:nvSpPr>
        <p:spPr>
          <a:xfrm>
            <a:off x="1535541" y="4505742"/>
            <a:ext cx="947700" cy="11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TaxaEmpresa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48"/>
          <p:cNvSpPr/>
          <p:nvPr/>
        </p:nvSpPr>
        <p:spPr>
          <a:xfrm>
            <a:off x="2301219" y="2269577"/>
            <a:ext cx="1407000" cy="1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LinkEmpresa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48"/>
          <p:cNvSpPr/>
          <p:nvPr/>
        </p:nvSpPr>
        <p:spPr>
          <a:xfrm>
            <a:off x="3770750" y="2269577"/>
            <a:ext cx="571200" cy="153600"/>
          </a:xfrm>
          <a:prstGeom prst="rect">
            <a:avLst/>
          </a:prstGeom>
          <a:solidFill>
            <a:srgbClr val="D1D1D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Copiar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48"/>
          <p:cNvSpPr/>
          <p:nvPr/>
        </p:nvSpPr>
        <p:spPr>
          <a:xfrm>
            <a:off x="4655168" y="1754210"/>
            <a:ext cx="571200" cy="153600"/>
          </a:xfrm>
          <a:prstGeom prst="rect">
            <a:avLst/>
          </a:prstGeom>
          <a:solidFill>
            <a:srgbClr val="0D6E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Editar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48"/>
          <p:cNvSpPr/>
          <p:nvPr/>
        </p:nvSpPr>
        <p:spPr>
          <a:xfrm>
            <a:off x="2818951" y="1522575"/>
            <a:ext cx="984000" cy="27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*Foto Empresa*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48"/>
          <p:cNvSpPr/>
          <p:nvPr/>
        </p:nvSpPr>
        <p:spPr>
          <a:xfrm>
            <a:off x="2837101" y="1832313"/>
            <a:ext cx="947700" cy="16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 Empresa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48"/>
          <p:cNvSpPr/>
          <p:nvPr/>
        </p:nvSpPr>
        <p:spPr>
          <a:xfrm>
            <a:off x="6668293" y="1522585"/>
            <a:ext cx="571200" cy="153600"/>
          </a:xfrm>
          <a:prstGeom prst="rect">
            <a:avLst/>
          </a:prstGeom>
          <a:solidFill>
            <a:srgbClr val="0D6E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Editar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48"/>
          <p:cNvSpPr txBox="1"/>
          <p:nvPr/>
        </p:nvSpPr>
        <p:spPr>
          <a:xfrm>
            <a:off x="7683425" y="1199175"/>
            <a:ext cx="1266300" cy="800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Botão designado para levar a empresa a tela de editar onde ela poderá trocar as informações exibidas</a:t>
            </a:r>
            <a:endParaRPr b="0" i="0" sz="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2" name="Google Shape;822;p48"/>
          <p:cNvCxnSpPr>
            <a:stCxn id="821" idx="1"/>
            <a:endCxn id="820" idx="3"/>
          </p:cNvCxnSpPr>
          <p:nvPr/>
        </p:nvCxnSpPr>
        <p:spPr>
          <a:xfrm rot="10800000">
            <a:off x="7239425" y="1599375"/>
            <a:ext cx="444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23" name="Google Shape;823;p48"/>
          <p:cNvSpPr/>
          <p:nvPr/>
        </p:nvSpPr>
        <p:spPr>
          <a:xfrm>
            <a:off x="6666350" y="2802977"/>
            <a:ext cx="571200" cy="153600"/>
          </a:xfrm>
          <a:prstGeom prst="rect">
            <a:avLst/>
          </a:prstGeom>
          <a:solidFill>
            <a:srgbClr val="D1D1D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Copiar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48"/>
          <p:cNvSpPr txBox="1"/>
          <p:nvPr/>
        </p:nvSpPr>
        <p:spPr>
          <a:xfrm>
            <a:off x="7683425" y="2570775"/>
            <a:ext cx="1266300" cy="55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Botão feito para copiar o link do cardápio da empresa selecionada</a:t>
            </a:r>
            <a:endParaRPr b="0" i="0" sz="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5" name="Google Shape;825;p48"/>
          <p:cNvCxnSpPr>
            <a:stCxn id="824" idx="1"/>
          </p:cNvCxnSpPr>
          <p:nvPr/>
        </p:nvCxnSpPr>
        <p:spPr>
          <a:xfrm rot="10800000">
            <a:off x="7239425" y="2847825"/>
            <a:ext cx="444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26" name="Google Shape;826;p48"/>
          <p:cNvSpPr/>
          <p:nvPr/>
        </p:nvSpPr>
        <p:spPr>
          <a:xfrm>
            <a:off x="241500" y="1053425"/>
            <a:ext cx="6310800" cy="4692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Cardápio Empresa Produtos Categorias Logout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48"/>
          <p:cNvSpPr txBox="1"/>
          <p:nvPr/>
        </p:nvSpPr>
        <p:spPr>
          <a:xfrm>
            <a:off x="402725" y="299175"/>
            <a:ext cx="7191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n.15 tela de perfil de empresa</a:t>
            </a:r>
            <a:endParaRPr b="0" i="0" sz="2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9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49"/>
          <p:cNvSpPr/>
          <p:nvPr/>
        </p:nvSpPr>
        <p:spPr>
          <a:xfrm>
            <a:off x="1264425" y="1433194"/>
            <a:ext cx="6143700" cy="363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49"/>
          <p:cNvSpPr/>
          <p:nvPr/>
        </p:nvSpPr>
        <p:spPr>
          <a:xfrm>
            <a:off x="1357861" y="1544396"/>
            <a:ext cx="1081200" cy="19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49"/>
          <p:cNvSpPr/>
          <p:nvPr/>
        </p:nvSpPr>
        <p:spPr>
          <a:xfrm>
            <a:off x="1384196" y="1771450"/>
            <a:ext cx="5643300" cy="256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 da Empresa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49"/>
          <p:cNvSpPr/>
          <p:nvPr/>
        </p:nvSpPr>
        <p:spPr>
          <a:xfrm>
            <a:off x="1384196" y="4129218"/>
            <a:ext cx="1081200" cy="19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Taxa  Empresa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49"/>
          <p:cNvSpPr/>
          <p:nvPr/>
        </p:nvSpPr>
        <p:spPr>
          <a:xfrm>
            <a:off x="1384200" y="4370276"/>
            <a:ext cx="5643300" cy="256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taxa de entrega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49"/>
          <p:cNvSpPr/>
          <p:nvPr/>
        </p:nvSpPr>
        <p:spPr>
          <a:xfrm>
            <a:off x="1384196" y="3547023"/>
            <a:ext cx="1081200" cy="19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 Empresa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49"/>
          <p:cNvSpPr/>
          <p:nvPr/>
        </p:nvSpPr>
        <p:spPr>
          <a:xfrm>
            <a:off x="1384196" y="3813857"/>
            <a:ext cx="5643300" cy="32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Selecionar Imagem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49"/>
          <p:cNvSpPr/>
          <p:nvPr/>
        </p:nvSpPr>
        <p:spPr>
          <a:xfrm>
            <a:off x="1357850" y="3824550"/>
            <a:ext cx="1921500" cy="32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Escolher Arquivo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49"/>
          <p:cNvSpPr/>
          <p:nvPr/>
        </p:nvSpPr>
        <p:spPr>
          <a:xfrm>
            <a:off x="1384196" y="3031309"/>
            <a:ext cx="1081200" cy="19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Senha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49"/>
          <p:cNvSpPr/>
          <p:nvPr/>
        </p:nvSpPr>
        <p:spPr>
          <a:xfrm>
            <a:off x="1384196" y="3290938"/>
            <a:ext cx="5643300" cy="256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Senha da empresa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49"/>
          <p:cNvSpPr/>
          <p:nvPr/>
        </p:nvSpPr>
        <p:spPr>
          <a:xfrm>
            <a:off x="1384196" y="2574955"/>
            <a:ext cx="1081200" cy="19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Senha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49"/>
          <p:cNvSpPr/>
          <p:nvPr/>
        </p:nvSpPr>
        <p:spPr>
          <a:xfrm>
            <a:off x="1384196" y="2807539"/>
            <a:ext cx="5643300" cy="256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Cnpj da empresa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49"/>
          <p:cNvSpPr/>
          <p:nvPr/>
        </p:nvSpPr>
        <p:spPr>
          <a:xfrm>
            <a:off x="1384196" y="2057006"/>
            <a:ext cx="1081200" cy="19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Senha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49"/>
          <p:cNvSpPr/>
          <p:nvPr/>
        </p:nvSpPr>
        <p:spPr>
          <a:xfrm>
            <a:off x="1384196" y="2289591"/>
            <a:ext cx="5643300" cy="256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senha da empresa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49"/>
          <p:cNvSpPr/>
          <p:nvPr/>
        </p:nvSpPr>
        <p:spPr>
          <a:xfrm>
            <a:off x="5930043" y="4675746"/>
            <a:ext cx="471900" cy="28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Voltar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49"/>
          <p:cNvSpPr/>
          <p:nvPr/>
        </p:nvSpPr>
        <p:spPr>
          <a:xfrm>
            <a:off x="6459998" y="4675746"/>
            <a:ext cx="567300" cy="282000"/>
          </a:xfrm>
          <a:prstGeom prst="rect">
            <a:avLst/>
          </a:prstGeom>
          <a:solidFill>
            <a:srgbClr val="0D6E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Salvar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49"/>
          <p:cNvSpPr/>
          <p:nvPr/>
        </p:nvSpPr>
        <p:spPr>
          <a:xfrm>
            <a:off x="3423287" y="1079949"/>
            <a:ext cx="1081200" cy="19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 Empresa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49"/>
          <p:cNvSpPr/>
          <p:nvPr/>
        </p:nvSpPr>
        <p:spPr>
          <a:xfrm>
            <a:off x="3423287" y="664375"/>
            <a:ext cx="1081200" cy="32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*Foto Empresa*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49"/>
          <p:cNvSpPr/>
          <p:nvPr/>
        </p:nvSpPr>
        <p:spPr>
          <a:xfrm>
            <a:off x="-89" y="0"/>
            <a:ext cx="9144000" cy="576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Cardápio Empresa Produtos Categorias DashBoard Logout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49"/>
          <p:cNvSpPr txBox="1"/>
          <p:nvPr/>
        </p:nvSpPr>
        <p:spPr>
          <a:xfrm>
            <a:off x="121450" y="714500"/>
            <a:ext cx="27645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3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n.16 Editar Perfil de Empresa</a:t>
            </a:r>
            <a:endParaRPr b="0" i="0" sz="1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3" name="Google Shape;853;p49"/>
          <p:cNvSpPr/>
          <p:nvPr/>
        </p:nvSpPr>
        <p:spPr>
          <a:xfrm>
            <a:off x="7446850" y="2828575"/>
            <a:ext cx="559500" cy="2916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voltar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49"/>
          <p:cNvSpPr txBox="1"/>
          <p:nvPr/>
        </p:nvSpPr>
        <p:spPr>
          <a:xfrm>
            <a:off x="8045075" y="2512675"/>
            <a:ext cx="1266300" cy="677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Botão feito para voltar para a tela de perfil sem efetuar nenhuma alteração</a:t>
            </a:r>
            <a:endParaRPr b="0" i="0" sz="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5" name="Google Shape;855;p49"/>
          <p:cNvSpPr/>
          <p:nvPr/>
        </p:nvSpPr>
        <p:spPr>
          <a:xfrm>
            <a:off x="7408125" y="3707300"/>
            <a:ext cx="580800" cy="291600"/>
          </a:xfrm>
          <a:prstGeom prst="rect">
            <a:avLst/>
          </a:prstGeom>
          <a:solidFill>
            <a:srgbClr val="0D6E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Salvar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49"/>
          <p:cNvSpPr txBox="1"/>
          <p:nvPr/>
        </p:nvSpPr>
        <p:spPr>
          <a:xfrm>
            <a:off x="8045075" y="3586800"/>
            <a:ext cx="1048800" cy="677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botão feito para salvar as alterações feitas pela empresa</a:t>
            </a:r>
            <a:endParaRPr b="0" i="0" sz="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50"/>
          <p:cNvSpPr/>
          <p:nvPr/>
        </p:nvSpPr>
        <p:spPr>
          <a:xfrm>
            <a:off x="161100" y="747950"/>
            <a:ext cx="7318200" cy="420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50"/>
          <p:cNvSpPr/>
          <p:nvPr/>
        </p:nvSpPr>
        <p:spPr>
          <a:xfrm>
            <a:off x="278975" y="1744500"/>
            <a:ext cx="2252400" cy="940800"/>
          </a:xfrm>
          <a:prstGeom prst="rect">
            <a:avLst/>
          </a:prstGeom>
          <a:solidFill>
            <a:srgbClr val="0D6EFD"/>
          </a:solidFill>
          <a:ln cap="flat" cmpd="sng" w="9525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Pedidos nos últimos 7 dias: quantidade de pedidos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50"/>
          <p:cNvSpPr/>
          <p:nvPr/>
        </p:nvSpPr>
        <p:spPr>
          <a:xfrm>
            <a:off x="2744225" y="1744500"/>
            <a:ext cx="2252400" cy="940800"/>
          </a:xfrm>
          <a:prstGeom prst="rect">
            <a:avLst/>
          </a:prstGeom>
          <a:solidFill>
            <a:srgbClr val="0D6E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Pedidos nos últimos 15 dias: 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quantidade de pedidos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50"/>
          <p:cNvSpPr/>
          <p:nvPr/>
        </p:nvSpPr>
        <p:spPr>
          <a:xfrm>
            <a:off x="5128925" y="1744500"/>
            <a:ext cx="2252400" cy="940800"/>
          </a:xfrm>
          <a:prstGeom prst="rect">
            <a:avLst/>
          </a:prstGeom>
          <a:solidFill>
            <a:srgbClr val="0D6E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Pedidos nos últimos 30 dias: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quantidade de pedidos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50"/>
          <p:cNvSpPr/>
          <p:nvPr/>
        </p:nvSpPr>
        <p:spPr>
          <a:xfrm>
            <a:off x="278975" y="2923800"/>
            <a:ext cx="3368700" cy="940800"/>
          </a:xfrm>
          <a:prstGeom prst="rect">
            <a:avLst/>
          </a:prstGeom>
          <a:solidFill>
            <a:srgbClr val="0D6E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E4E4E4"/>
                </a:solidFill>
                <a:latin typeface="Arial"/>
                <a:ea typeface="Arial"/>
                <a:cs typeface="Arial"/>
                <a:sym typeface="Arial"/>
              </a:rPr>
              <a:t>Quantidade de produtos:</a:t>
            </a:r>
            <a:endParaRPr b="0" i="0" sz="1200" u="none" cap="none" strike="noStrike">
              <a:solidFill>
                <a:srgbClr val="E4E4E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E4E4E4"/>
                </a:solidFill>
                <a:latin typeface="Arial"/>
                <a:ea typeface="Arial"/>
                <a:cs typeface="Arial"/>
                <a:sym typeface="Arial"/>
              </a:rPr>
              <a:t>qtdProdutos</a:t>
            </a:r>
            <a:endParaRPr b="0" i="0" sz="1200" u="none" cap="none" strike="noStrike">
              <a:solidFill>
                <a:srgbClr val="E4E4E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50"/>
          <p:cNvSpPr/>
          <p:nvPr/>
        </p:nvSpPr>
        <p:spPr>
          <a:xfrm>
            <a:off x="4012625" y="2923800"/>
            <a:ext cx="3368700" cy="940800"/>
          </a:xfrm>
          <a:prstGeom prst="rect">
            <a:avLst/>
          </a:prstGeom>
          <a:solidFill>
            <a:srgbClr val="0D6E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E4E4E4"/>
                </a:solidFill>
                <a:latin typeface="Arial"/>
                <a:ea typeface="Arial"/>
                <a:cs typeface="Arial"/>
                <a:sym typeface="Arial"/>
              </a:rPr>
              <a:t>Produto mais procurado:</a:t>
            </a:r>
            <a:endParaRPr b="0" i="0" sz="1400" u="none" cap="none" strike="noStrike">
              <a:solidFill>
                <a:srgbClr val="E4E4E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E4E4E4"/>
                </a:solidFill>
                <a:latin typeface="Arial"/>
                <a:ea typeface="Arial"/>
                <a:cs typeface="Arial"/>
                <a:sym typeface="Arial"/>
              </a:rPr>
              <a:t>Produto com mais pedidos</a:t>
            </a:r>
            <a:endParaRPr b="0" i="0" sz="1400" u="none" cap="none" strike="noStrike">
              <a:solidFill>
                <a:srgbClr val="E4E4E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50"/>
          <p:cNvSpPr/>
          <p:nvPr/>
        </p:nvSpPr>
        <p:spPr>
          <a:xfrm>
            <a:off x="161102" y="747950"/>
            <a:ext cx="7318200" cy="576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Cardápio Empresa Produtos Categorias DashBoard Logout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50"/>
          <p:cNvSpPr txBox="1"/>
          <p:nvPr/>
        </p:nvSpPr>
        <p:spPr>
          <a:xfrm>
            <a:off x="161100" y="162950"/>
            <a:ext cx="7732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pt-BR" sz="2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N.17 DASHBOARD</a:t>
            </a:r>
            <a:endParaRPr b="0" i="0" sz="2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